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4.svg" ContentType="image/svg+xml"/>
  <Override PartName="/ppt/media/image16.svg" ContentType="image/svg+xml"/>
  <Override PartName="/ppt/media/image20.svg" ContentType="image/svg+xml"/>
  <Override PartName="/ppt/media/image22.svg" ContentType="image/svg+xml"/>
  <Override PartName="/ppt/media/image28.svg" ContentType="image/svg+xml"/>
  <Override PartName="/ppt/media/image30.svg" ContentType="image/svg+xml"/>
  <Override PartName="/ppt/media/image3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Good morning/afternoon, everyone. My name is [Your Name], and today I'll be presenting my coursework project for the Web Services and Web Data module. The project is a RESTful API designed to help users track and manage their personal habits.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main goal of this project was to build a fully functional RESTful API. It allows users to perform all essential CRUD operations on their habits and also provides a statistics endpoint for insights. The API is built using a modern tech stack, including Java 17 and Spring Boot, which I'll discuss in more detail later.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ensure a clean and maintainable codebase, I implemented a layered architecture. The controller receives HTTP requests, the service layer contains the core business logic, and the repository layer handles database interactions. This separation of concerns makes the application modular and easier to test and extend. The project is organized into distinct packages, each with a specific responsibility.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The API exposes a set of standard RESTful endpoints for managing habits. As you can see, it supports all CRUD operations via POST, GET, PUT, and DELETE methods. Additionally, a dedicated endpoint at `/stats` provides users with valuable insights. The API strictly uses JSON and adheres to standard HTTP status codes to communicate the outcome of each request clearly.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For data persistence, I chose the H2 in-memory database, ideal for easy testing. Spring Data JPA abstracts the complexity of JDBC. To ensure data quality, I integrated Jakarta Validation. Furthermore, a global exception handler was implemented to provide consistent and informative error messages, making the API more robust and user-friendly.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 crucial aspect of any web service is good documentation. I used Springdoc-OpenAPI to generate a Swagger UI, which serves as living documentation.</a:t>
            </a:r>
            <a:endParaRPr lang="en-US" sz="1400" b="0" i="0" u="none" strike="noStrike">
              <a:solidFill>
                <a:srgbClr val="000000"/>
              </a:solidFill>
            </a:endParaRPr>
          </a:p>
          <a:p>
            <a:pPr indent="0" algn="l">
              <a:lnSpc>
                <a:spcPct val="100000"/>
              </a:lnSpc>
            </a:pPr>
            <a:r>
              <a:rPr lang="en-US" sz="1400" b="0" i="0" u="none" strike="noStrike">
                <a:solidFill>
                  <a:srgbClr val="000000"/>
                </a:solidFill>
              </a:rPr>
              <a:t>To make testing easier, I implemented a data loader using CommandLineRunner to populate the H2 database with sample data on startup.</a:t>
            </a:r>
            <a:endParaRPr lang="en-US" sz="1400" b="0" i="0" u="none" strike="noStrike">
              <a:solidFill>
                <a:srgbClr val="000000"/>
              </a:solidFill>
            </a:endParaRPr>
          </a:p>
          <a:p>
            <a:pPr indent="0" algn="l">
              <a:lnSpc>
                <a:spcPct val="100000"/>
              </a:lnSpc>
            </a:pPr>
            <a:r>
              <a:rPr lang="en-US" sz="1400" b="0" i="0" u="none" strike="noStrike">
                <a:solidFill>
                  <a:srgbClr val="000000"/>
                </a:solidFill>
              </a:rPr>
              <a:t>Finally, the entire project was managed using Git for version control, ensuring traceability of all development steps and making collaboration straightforward.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choosing the technology stack, I prioritized Java and Spring Boot, which allowed me to focus on core concepts. Reflecting on the project, I'm satisfied with the implementation of the core features. In conclusion, this project has been a valuable learning experience, and the resulting API is robust and ready for potential future enhancements. Thank you for your attention. I would be happy to answer any questions.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2" Type="http://schemas.openxmlformats.org/officeDocument/2006/relationships/notesSlide" Target="../notesSlides/notesSlide2.xml"/><Relationship Id="rId11" Type="http://schemas.openxmlformats.org/officeDocument/2006/relationships/slideLayout" Target="../slideLayouts/slideLayout12.xml"/><Relationship Id="rId10" Type="http://schemas.openxmlformats.org/officeDocument/2006/relationships/image" Target="../media/image11.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12.jpe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7.jpeg"/><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22.svg"/><Relationship Id="rId7" Type="http://schemas.openxmlformats.org/officeDocument/2006/relationships/image" Target="../media/image2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18.jpeg"/><Relationship Id="rId10" Type="http://schemas.openxmlformats.org/officeDocument/2006/relationships/notesSlide" Target="../notesSlides/notesSlide5.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2.xml"/><Relationship Id="rId4" Type="http://schemas.openxmlformats.org/officeDocument/2006/relationships/image" Target="../media/image25.png"/><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3.png"/><Relationship Id="rId7" Type="http://schemas.openxmlformats.org/officeDocument/2006/relationships/image" Target="../media/image32.svg"/><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 Id="rId3" Type="http://schemas.openxmlformats.org/officeDocument/2006/relationships/image" Target="../media/image28.svg"/><Relationship Id="rId2" Type="http://schemas.openxmlformats.org/officeDocument/2006/relationships/image" Target="../media/image27.png"/><Relationship Id="rId10" Type="http://schemas.openxmlformats.org/officeDocument/2006/relationships/notesSlide" Target="../notesSlides/notesSlide7.xml"/><Relationship Id="rId1"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905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Arial" panose="020B0604020202020204"/>
                <a:ea typeface="Arial" panose="020B0604020202020204"/>
                <a:cs typeface="Arial" panose="020B0604020202020204"/>
                <a:sym typeface="Arial" panose="020B0604020202020204"/>
              </a:rPr>
              <a:t>Habit Tracker API</a:t>
            </a:r>
            <a:endParaRPr lang="en-US" sz="1100"/>
          </a:p>
        </p:txBody>
      </p:sp>
      <p:sp>
        <p:nvSpPr>
          <p:cNvPr id="4" name="AutoShape 4"/>
          <p:cNvSpPr/>
          <p:nvPr/>
        </p:nvSpPr>
        <p:spPr>
          <a:xfrm>
            <a:off x="0" y="3048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FFFFFF">
                    <a:alpha val="94902"/>
                  </a:srgbClr>
                </a:solidFill>
                <a:latin typeface="Arial" panose="020B0604020202020204"/>
                <a:ea typeface="Arial" panose="020B0604020202020204"/>
                <a:cs typeface="Arial" panose="020B0604020202020204"/>
                <a:sym typeface="Arial" panose="020B0604020202020204"/>
              </a:rPr>
              <a:t>A RESTful Service for Personal Habit Management</a:t>
            </a:r>
            <a:endParaRPr lang="en-US" sz="1100"/>
          </a:p>
        </p:txBody>
      </p:sp>
      <p:sp>
        <p:nvSpPr>
          <p:cNvPr id="5" name="AutoShape 5"/>
          <p:cNvSpPr/>
          <p:nvPr/>
        </p:nvSpPr>
        <p:spPr>
          <a:xfrm>
            <a:off x="0" y="4064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spc="100">
                <a:solidFill>
                  <a:srgbClr val="FFFFFF">
                    <a:alpha val="80000"/>
                  </a:srgbClr>
                </a:solidFill>
                <a:latin typeface="Arial" panose="020B0604020202020204"/>
                <a:ea typeface="Arial" panose="020B0604020202020204"/>
                <a:cs typeface="Arial" panose="020B0604020202020204"/>
                <a:sym typeface="Arial" panose="020B0604020202020204"/>
              </a:rPr>
              <a:t>COURSEWORK PROJECT | WEB SERVICES AND WEB DATA</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Arial" panose="020B0604020202020204"/>
                <a:ea typeface="Arial" panose="020B0604020202020204"/>
                <a:cs typeface="Arial" panose="020B0604020202020204"/>
                <a:sym typeface="Arial" panose="020B0604020202020204"/>
              </a:rPr>
              <a:t>Project Overview: Purpose and Scope</a:t>
            </a:r>
            <a:endParaRPr lang="en-US" sz="1100"/>
          </a:p>
        </p:txBody>
      </p:sp>
      <p:sp>
        <p:nvSpPr>
          <p:cNvPr id="4" name="AutoShape 4"/>
          <p:cNvSpPr/>
          <p:nvPr/>
        </p:nvSpPr>
        <p:spPr>
          <a:xfrm>
            <a:off x="762000" y="1397000"/>
            <a:ext cx="5207000" cy="1143000"/>
          </a:xfrm>
          <a:prstGeom prst="roundRect">
            <a:avLst>
              <a:gd name="adj" fmla="val 11111"/>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587500"/>
            <a:ext cx="508000" cy="508000"/>
          </a:xfrm>
          <a:prstGeom prst="rect">
            <a:avLst/>
          </a:prstGeom>
        </p:spPr>
      </p:pic>
      <p:sp>
        <p:nvSpPr>
          <p:cNvPr id="6" name="AutoShape 6"/>
          <p:cNvSpPr/>
          <p:nvPr/>
        </p:nvSpPr>
        <p:spPr>
          <a:xfrm>
            <a:off x="1778000" y="15494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ABC9C"/>
                </a:solidFill>
                <a:latin typeface="Arial" panose="020B0604020202020204"/>
                <a:ea typeface="Arial" panose="020B0604020202020204"/>
                <a:cs typeface="Arial" panose="020B0604020202020204"/>
                <a:sym typeface="Arial" panose="020B0604020202020204"/>
              </a:rPr>
              <a:t>CORE OBJECTIVE</a:t>
            </a:r>
            <a:endParaRPr lang="en-US" sz="1100"/>
          </a:p>
        </p:txBody>
      </p:sp>
      <p:sp>
        <p:nvSpPr>
          <p:cNvPr id="7" name="AutoShape 7"/>
          <p:cNvSpPr/>
          <p:nvPr/>
        </p:nvSpPr>
        <p:spPr>
          <a:xfrm>
            <a:off x="1778000" y="1905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Arial" panose="020B0604020202020204"/>
                <a:ea typeface="Arial" panose="020B0604020202020204"/>
                <a:cs typeface="Arial" panose="020B0604020202020204"/>
                <a:sym typeface="Arial" panose="020B0604020202020204"/>
              </a:rPr>
              <a:t>Design and implement a robust, scalable, and well-documented RESTful API to facilitate comprehensive habit tracking.</a:t>
            </a:r>
            <a:endParaRPr lang="en-US" sz="1100"/>
          </a:p>
        </p:txBody>
      </p:sp>
      <p:sp>
        <p:nvSpPr>
          <p:cNvPr id="8" name="AutoShape 8"/>
          <p:cNvSpPr/>
          <p:nvPr/>
        </p:nvSpPr>
        <p:spPr>
          <a:xfrm>
            <a:off x="762000" y="2730500"/>
            <a:ext cx="5207000" cy="1397000"/>
          </a:xfrm>
          <a:prstGeom prst="roundRect">
            <a:avLst>
              <a:gd name="adj" fmla="val 9090"/>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984500"/>
            <a:ext cx="508000" cy="508000"/>
          </a:xfrm>
          <a:prstGeom prst="rect">
            <a:avLst/>
          </a:prstGeom>
        </p:spPr>
      </p:pic>
      <p:sp>
        <p:nvSpPr>
          <p:cNvPr id="10" name="AutoShape 10"/>
          <p:cNvSpPr/>
          <p:nvPr/>
        </p:nvSpPr>
        <p:spPr>
          <a:xfrm>
            <a:off x="1778000" y="28829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ABC9C"/>
                </a:solidFill>
                <a:latin typeface="Arial" panose="020B0604020202020204"/>
                <a:ea typeface="Arial" panose="020B0604020202020204"/>
                <a:cs typeface="Arial" panose="020B0604020202020204"/>
                <a:sym typeface="Arial" panose="020B0604020202020204"/>
              </a:rPr>
              <a:t>KEY FUNCTIONALITY</a:t>
            </a:r>
            <a:endParaRPr lang="en-US" sz="1100"/>
          </a:p>
        </p:txBody>
      </p:sp>
      <p:sp>
        <p:nvSpPr>
          <p:cNvPr id="11" name="AutoShape 11"/>
          <p:cNvSpPr/>
          <p:nvPr/>
        </p:nvSpPr>
        <p:spPr>
          <a:xfrm>
            <a:off x="1778000" y="32385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555555"/>
                </a:solidFill>
                <a:latin typeface="Arial" panose="020B0604020202020204"/>
                <a:ea typeface="Arial" panose="020B0604020202020204"/>
                <a:cs typeface="Arial" panose="020B0604020202020204"/>
                <a:sym typeface="Arial" panose="020B0604020202020204"/>
              </a:rPr>
              <a:t>• CRUD Operations for Habit Management | • Data Validation &amp; Integrity</a:t>
            </a:r>
            <a:br>
              <a:rPr lang="en-US" sz="1100" b="0" i="0" u="none" strike="noStrike">
                <a:solidFill>
                  <a:srgbClr val="555555"/>
                </a:solidFill>
                <a:latin typeface="Arial" panose="020B0604020202020204"/>
                <a:ea typeface="Arial" panose="020B0604020202020204"/>
                <a:cs typeface="Arial" panose="020B0604020202020204"/>
                <a:sym typeface="Arial" panose="020B0604020202020204"/>
              </a:rPr>
            </a:br>
            <a:r>
              <a:rPr lang="en-US" sz="1100" b="0" i="0" u="none" strike="noStrike">
                <a:solidFill>
                  <a:srgbClr val="555555"/>
                </a:solidFill>
                <a:latin typeface="Arial" panose="020B0604020202020204"/>
                <a:ea typeface="Arial" panose="020B0604020202020204"/>
                <a:cs typeface="Arial" panose="020B0604020202020204"/>
                <a:sym typeface="Arial" panose="020B0604020202020204"/>
              </a:rPr>
              <a:t>• Real-time Statistics (Streaks/Rates) | • Comprehensive API Docs</a:t>
            </a:r>
            <a:endParaRPr lang="en-US" sz="1100"/>
          </a:p>
        </p:txBody>
      </p:sp>
      <p:sp>
        <p:nvSpPr>
          <p:cNvPr id="12" name="AutoShape 12"/>
          <p:cNvSpPr/>
          <p:nvPr/>
        </p:nvSpPr>
        <p:spPr>
          <a:xfrm>
            <a:off x="762000" y="4318000"/>
            <a:ext cx="5207000" cy="1079500"/>
          </a:xfrm>
          <a:prstGeom prst="roundRect">
            <a:avLst>
              <a:gd name="adj" fmla="val 11764"/>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08500"/>
            <a:ext cx="508000" cy="508000"/>
          </a:xfrm>
          <a:prstGeom prst="rect">
            <a:avLst/>
          </a:prstGeom>
        </p:spPr>
      </p:pic>
      <p:sp>
        <p:nvSpPr>
          <p:cNvPr id="14" name="AutoShape 14"/>
          <p:cNvSpPr/>
          <p:nvPr/>
        </p:nvSpPr>
        <p:spPr>
          <a:xfrm>
            <a:off x="1778000" y="44450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ABC9C"/>
                </a:solidFill>
                <a:latin typeface="Arial" panose="020B0604020202020204"/>
                <a:ea typeface="Arial" panose="020B0604020202020204"/>
                <a:cs typeface="Arial" panose="020B0604020202020204"/>
                <a:sym typeface="Arial" panose="020B0604020202020204"/>
              </a:rPr>
              <a:t>TARGET AUDIENCE</a:t>
            </a:r>
            <a:endParaRPr lang="en-US" sz="1100"/>
          </a:p>
        </p:txBody>
      </p:sp>
      <p:sp>
        <p:nvSpPr>
          <p:cNvPr id="15" name="AutoShape 15"/>
          <p:cNvSpPr/>
          <p:nvPr/>
        </p:nvSpPr>
        <p:spPr>
          <a:xfrm>
            <a:off x="1778000" y="48260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555555"/>
                </a:solidFill>
                <a:latin typeface="Arial" panose="020B0604020202020204"/>
                <a:ea typeface="Arial" panose="020B0604020202020204"/>
                <a:cs typeface="Arial" panose="020B0604020202020204"/>
                <a:sym typeface="Arial" panose="020B0604020202020204"/>
              </a:rPr>
              <a:t>Individuals seeking a reliable digital solution to monitor, analyze, and improve their daily habits.</a:t>
            </a:r>
            <a:endParaRPr lang="en-US" sz="1100"/>
          </a:p>
        </p:txBody>
      </p:sp>
      <p:sp>
        <p:nvSpPr>
          <p:cNvPr id="16" name="AutoShape 16"/>
          <p:cNvSpPr/>
          <p:nvPr/>
        </p:nvSpPr>
        <p:spPr>
          <a:xfrm>
            <a:off x="762000" y="5588000"/>
            <a:ext cx="5207000" cy="1016000"/>
          </a:xfrm>
          <a:prstGeom prst="roundRect">
            <a:avLst>
              <a:gd name="adj" fmla="val 12500"/>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778500"/>
            <a:ext cx="508000" cy="508000"/>
          </a:xfrm>
          <a:prstGeom prst="rect">
            <a:avLst/>
          </a:prstGeom>
        </p:spPr>
      </p:pic>
      <p:sp>
        <p:nvSpPr>
          <p:cNvPr id="18" name="AutoShape 18"/>
          <p:cNvSpPr/>
          <p:nvPr/>
        </p:nvSpPr>
        <p:spPr>
          <a:xfrm>
            <a:off x="1778000" y="57150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1ABC9C"/>
                </a:solidFill>
                <a:latin typeface="Arial" panose="020B0604020202020204"/>
                <a:ea typeface="Arial" panose="020B0604020202020204"/>
                <a:cs typeface="Arial" panose="020B0604020202020204"/>
                <a:sym typeface="Arial" panose="020B0604020202020204"/>
              </a:rPr>
              <a:t>TECH STACK &amp; TOOLS</a:t>
            </a:r>
            <a:endParaRPr lang="en-US" sz="1100"/>
          </a:p>
        </p:txBody>
      </p:sp>
      <p:sp>
        <p:nvSpPr>
          <p:cNvPr id="19" name="AutoShape 19"/>
          <p:cNvSpPr/>
          <p:nvPr/>
        </p:nvSpPr>
        <p:spPr>
          <a:xfrm>
            <a:off x="1778000" y="59944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Arial" panose="020B0604020202020204"/>
                <a:ea typeface="Arial" panose="020B0604020202020204"/>
                <a:cs typeface="Arial" panose="020B0604020202020204"/>
                <a:sym typeface="Arial" panose="020B0604020202020204"/>
              </a:rPr>
              <a:t>Java 17 • Spring Boot • Spring Data JPA • H2 DB • Jakarta Validation • OpenAPI</a:t>
            </a:r>
            <a:endParaRPr lang="en-US" sz="1100"/>
          </a:p>
        </p:txBody>
      </p:sp>
      <p:sp>
        <p:nvSpPr>
          <p:cNvPr id="20" name="AutoShape 20"/>
          <p:cNvSpPr/>
          <p:nvPr/>
        </p:nvSpPr>
        <p:spPr>
          <a:xfrm>
            <a:off x="6223000" y="1397000"/>
            <a:ext cx="4953000" cy="4953000"/>
          </a:xfrm>
          <a:prstGeom prst="roundRect">
            <a:avLst>
              <a:gd name="adj" fmla="val 2564"/>
            </a:avLst>
          </a:prstGeom>
          <a:solidFill>
            <a:srgbClr val="FFFFFF">
              <a:alpha val="100000"/>
            </a:srgbClr>
          </a:solidFill>
          <a:ln w="25400" cap="flat" cmpd="sng">
            <a:noFill/>
            <a:prstDash val="solid"/>
            <a:round/>
          </a:ln>
          <a:effectLst>
            <a:outerShdw blurRad="228600" dist="76200" dir="2700000" algn="tl" rotWithShape="0">
              <a:srgbClr val="000000">
                <a:alpha val="12000"/>
              </a:srgbClr>
            </a:outerShdw>
          </a:effectLst>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srcRect l="17291" r="17291"/>
          <a:stretch>
            <a:fillRect/>
          </a:stretch>
        </p:blipFill>
        <p:spPr>
          <a:xfrm>
            <a:off x="6477000" y="1651000"/>
            <a:ext cx="4445000" cy="3556000"/>
          </a:xfrm>
          <a:prstGeom prst="roundRect">
            <a:avLst>
              <a:gd name="adj" fmla="val 2857"/>
            </a:avLst>
          </a:prstGeom>
          <a:noFill/>
          <a:ln w="25400" cap="flat" cmpd="sng">
            <a:noFill/>
            <a:prstDash val="solid"/>
            <a:round/>
          </a:ln>
        </p:spPr>
      </p:pic>
      <p:sp>
        <p:nvSpPr>
          <p:cNvPr id="22" name="AutoShape 22"/>
          <p:cNvSpPr/>
          <p:nvPr/>
        </p:nvSpPr>
        <p:spPr>
          <a:xfrm>
            <a:off x="6477000" y="5397500"/>
            <a:ext cx="4445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333333"/>
                </a:solidFill>
                <a:latin typeface="Arial" panose="020B0604020202020204"/>
                <a:ea typeface="Arial" panose="020B0604020202020204"/>
                <a:cs typeface="Arial" panose="020B0604020202020204"/>
                <a:sym typeface="Arial" panose="020B0604020202020204"/>
              </a:rPr>
              <a:t>System Architecture Diagram</a:t>
            </a:r>
            <a:endParaRPr lang="en-US" sz="1100"/>
          </a:p>
          <a:p>
            <a:pPr indent="0" algn="ctr">
              <a:lnSpc>
                <a:spcPct val="125000"/>
              </a:lnSpc>
            </a:pPr>
            <a:r>
              <a:rPr lang="en-US" sz="1100" b="0" i="0" u="none" strike="noStrike">
                <a:solidFill>
                  <a:srgbClr val="808080"/>
                </a:solidFill>
                <a:latin typeface="Arial" panose="020B0604020202020204"/>
                <a:ea typeface="Arial" panose="020B0604020202020204"/>
                <a:cs typeface="Arial" panose="020B0604020202020204"/>
                <a:sym typeface="Arial" panose="020B0604020202020204"/>
              </a:rPr>
              <a:t>Client-Server Interaction Model</a:t>
            </a:r>
            <a:endParaRPr lang="en-US" sz="1100" b="0" i="0" u="none" strike="noStrike">
              <a:solidFill>
                <a:srgbClr val="80808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Arial" panose="020B0604020202020204"/>
                <a:ea typeface="Arial" panose="020B0604020202020204"/>
                <a:cs typeface="Arial" panose="020B0604020202020204"/>
                <a:sym typeface="Arial" panose="020B0604020202020204"/>
              </a:rPr>
              <a:t>Architecture and Project Structure</a:t>
            </a:r>
            <a:endParaRPr lang="en-US" sz="1100"/>
          </a:p>
        </p:txBody>
      </p:sp>
      <p:sp>
        <p:nvSpPr>
          <p:cNvPr id="4" name="AutoShape 4"/>
          <p:cNvSpPr/>
          <p:nvPr/>
        </p:nvSpPr>
        <p:spPr>
          <a:xfrm>
            <a:off x="762000" y="1524000"/>
            <a:ext cx="5080000" cy="4953000"/>
          </a:xfrm>
          <a:prstGeom prst="roundRect">
            <a:avLst>
              <a:gd name="adj" fmla="val 3076"/>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1778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BC9C"/>
                </a:solidFill>
                <a:latin typeface="Arial" panose="020B0604020202020204"/>
                <a:ea typeface="Arial" panose="020B0604020202020204"/>
                <a:cs typeface="Arial" panose="020B0604020202020204"/>
                <a:sym typeface="Arial" panose="020B0604020202020204"/>
              </a:rPr>
              <a:t>Architectural Pattern</a:t>
            </a:r>
            <a:endParaRPr lang="en-US" sz="1100"/>
          </a:p>
        </p:txBody>
      </p:sp>
      <p:sp>
        <p:nvSpPr>
          <p:cNvPr id="6" name="AutoShape 6"/>
          <p:cNvSpPr/>
          <p:nvPr/>
        </p:nvSpPr>
        <p:spPr>
          <a:xfrm>
            <a:off x="1016000" y="2286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555555"/>
                </a:solidFill>
                <a:latin typeface="Arial" panose="020B0604020202020204"/>
                <a:ea typeface="Arial" panose="020B0604020202020204"/>
                <a:cs typeface="Arial" panose="020B0604020202020204"/>
                <a:sym typeface="Arial" panose="020B0604020202020204"/>
              </a:rPr>
              <a:t>The application is built on a robust layered architecture, strictly adhering to the MVC (Model-View-Controller) design pattern for separation of concerns.</a:t>
            </a:r>
            <a:endParaRPr lang="en-US" sz="1100"/>
          </a:p>
        </p:txBody>
      </p:sp>
      <p:sp>
        <p:nvSpPr>
          <p:cNvPr id="7" name="AutoShape 7"/>
          <p:cNvSpPr/>
          <p:nvPr/>
        </p:nvSpPr>
        <p:spPr>
          <a:xfrm>
            <a:off x="1016000" y="2984500"/>
            <a:ext cx="4572000" cy="762000"/>
          </a:xfrm>
          <a:prstGeom prst="roundRect">
            <a:avLst>
              <a:gd name="adj" fmla="val 13333"/>
            </a:avLst>
          </a:prstGeom>
          <a:solidFill>
            <a:srgbClr val="ECF9F7">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43000" y="3111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1ABC9C"/>
                </a:solidFill>
                <a:latin typeface="Arial" panose="020B0604020202020204"/>
                <a:ea typeface="Arial" panose="020B0604020202020204"/>
                <a:cs typeface="Arial" panose="020B0604020202020204"/>
                <a:sym typeface="Arial" panose="020B0604020202020204"/>
              </a:rPr>
              <a:t>Data Flow:</a:t>
            </a:r>
            <a:r>
              <a:rPr lang="en-US" sz="1100" b="0" i="0" u="none" strike="noStrike">
                <a:solidFill>
                  <a:srgbClr val="3C3C3C"/>
                </a:solidFill>
                <a:latin typeface="Arial" panose="020B0604020202020204"/>
                <a:ea typeface="Arial" panose="020B0604020202020204"/>
                <a:cs typeface="Arial" panose="020B0604020202020204"/>
                <a:sym typeface="Arial" panose="020B0604020202020204"/>
              </a:rPr>
              <a:t>Client → Controller → Service → Repository → Database</a:t>
            </a:r>
            <a:endParaRPr lang="en-US" sz="1100"/>
          </a:p>
        </p:txBody>
      </p:sp>
      <p:pic>
        <p:nvPicPr>
          <p:cNvPr id="9" name="Picture 9"/>
          <p:cNvPicPr>
            <a:picLocks noChangeAspect="1"/>
          </p:cNvPicPr>
          <p:nvPr/>
        </p:nvPicPr>
        <p:blipFill>
          <a:blip r:embed="rId2"/>
          <a:srcRect t="8428" b="8428"/>
          <a:stretch>
            <a:fillRect/>
          </a:stretch>
        </p:blipFill>
        <p:spPr>
          <a:xfrm>
            <a:off x="1016000" y="3937000"/>
            <a:ext cx="4572000" cy="2286000"/>
          </a:xfrm>
          <a:prstGeom prst="roundRect">
            <a:avLst>
              <a:gd name="adj" fmla="val 4444"/>
            </a:avLst>
          </a:prstGeom>
          <a:noFill/>
          <a:ln w="25400" cap="flat" cmpd="sng">
            <a:noFill/>
            <a:prstDash val="solid"/>
            <a:round/>
          </a:ln>
          <a:effectLst>
            <a:outerShdw blurRad="101600" dist="25400" dir="2700000" algn="tl" rotWithShape="0">
              <a:srgbClr val="000000">
                <a:alpha val="10000"/>
              </a:srgbClr>
            </a:outerShdw>
          </a:effectLst>
        </p:spPr>
      </p:pic>
      <p:sp>
        <p:nvSpPr>
          <p:cNvPr id="10" name="AutoShape 10"/>
          <p:cNvSpPr/>
          <p:nvPr/>
        </p:nvSpPr>
        <p:spPr>
          <a:xfrm>
            <a:off x="6096000" y="1524000"/>
            <a:ext cx="5334000" cy="4953000"/>
          </a:xfrm>
          <a:prstGeom prst="roundRect">
            <a:avLst>
              <a:gd name="adj" fmla="val 3076"/>
            </a:avLst>
          </a:prstGeom>
          <a:solidFill>
            <a:srgbClr val="FFFFFF">
              <a:alpha val="100000"/>
            </a:srgbClr>
          </a:solidFill>
          <a:ln w="25400" cap="flat" cmpd="sng">
            <a:noFill/>
            <a:prstDash val="solid"/>
            <a:round/>
          </a:ln>
          <a:effectLst>
            <a:outerShdw blurRad="1905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1" name="AutoShape 11"/>
          <p:cNvSpPr/>
          <p:nvPr/>
        </p:nvSpPr>
        <p:spPr>
          <a:xfrm>
            <a:off x="6350000" y="1778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BC9C"/>
                </a:solidFill>
                <a:latin typeface="Arial" panose="020B0604020202020204"/>
                <a:ea typeface="Arial" panose="020B0604020202020204"/>
                <a:cs typeface="Arial" panose="020B0604020202020204"/>
                <a:sym typeface="Arial" panose="020B0604020202020204"/>
              </a:rPr>
              <a:t>Core Packages &amp; Responsibilities</a:t>
            </a:r>
            <a:endParaRPr lang="en-US" sz="1100"/>
          </a:p>
        </p:txBody>
      </p:sp>
      <p:sp>
        <p:nvSpPr>
          <p:cNvPr id="12" name="AutoShape 12"/>
          <p:cNvSpPr/>
          <p:nvPr/>
        </p:nvSpPr>
        <p:spPr>
          <a:xfrm>
            <a:off x="6350000" y="2413000"/>
            <a:ext cx="2413000" cy="1016000"/>
          </a:xfrm>
          <a:prstGeom prst="roundRect">
            <a:avLst>
              <a:gd name="adj" fmla="val 7500"/>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477000" y="2540000"/>
            <a:ext cx="2159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BC9C"/>
                </a:solidFill>
                <a:latin typeface="Arial" panose="020B0604020202020204"/>
                <a:ea typeface="Arial" panose="020B0604020202020204"/>
                <a:cs typeface="Arial" panose="020B0604020202020204"/>
                <a:sym typeface="Arial" panose="020B0604020202020204"/>
              </a:rPr>
              <a:t>/ controller</a:t>
            </a:r>
            <a:endParaRPr lang="en-US" sz="1100"/>
          </a:p>
        </p:txBody>
      </p:sp>
      <p:sp>
        <p:nvSpPr>
          <p:cNvPr id="14" name="AutoShape 14"/>
          <p:cNvSpPr/>
          <p:nvPr/>
        </p:nvSpPr>
        <p:spPr>
          <a:xfrm>
            <a:off x="6477000" y="2921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Entry point for HTTP requests/responses; maps endpoints to service logic.</a:t>
            </a:r>
            <a:endParaRPr lang="en-US" sz="1100"/>
          </a:p>
        </p:txBody>
      </p:sp>
      <p:sp>
        <p:nvSpPr>
          <p:cNvPr id="15" name="AutoShape 15"/>
          <p:cNvSpPr/>
          <p:nvPr/>
        </p:nvSpPr>
        <p:spPr>
          <a:xfrm>
            <a:off x="6350000" y="3556000"/>
            <a:ext cx="2413000" cy="1016000"/>
          </a:xfrm>
          <a:prstGeom prst="roundRect">
            <a:avLst>
              <a:gd name="adj" fmla="val 7500"/>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477000" y="3683000"/>
            <a:ext cx="2159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BC9C"/>
                </a:solidFill>
                <a:latin typeface="Arial" panose="020B0604020202020204"/>
                <a:ea typeface="Arial" panose="020B0604020202020204"/>
                <a:cs typeface="Arial" panose="020B0604020202020204"/>
                <a:sym typeface="Arial" panose="020B0604020202020204"/>
              </a:rPr>
              <a:t>/ service</a:t>
            </a:r>
            <a:endParaRPr lang="en-US" sz="1100"/>
          </a:p>
        </p:txBody>
      </p:sp>
      <p:sp>
        <p:nvSpPr>
          <p:cNvPr id="17" name="AutoShape 17"/>
          <p:cNvSpPr/>
          <p:nvPr/>
        </p:nvSpPr>
        <p:spPr>
          <a:xfrm>
            <a:off x="6477000" y="4064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Contains core business logic, validations, and orchestrates data flow between layers.</a:t>
            </a:r>
            <a:endParaRPr lang="en-US" sz="1100"/>
          </a:p>
        </p:txBody>
      </p:sp>
      <p:sp>
        <p:nvSpPr>
          <p:cNvPr id="18" name="AutoShape 18"/>
          <p:cNvSpPr/>
          <p:nvPr/>
        </p:nvSpPr>
        <p:spPr>
          <a:xfrm>
            <a:off x="6350000" y="4699000"/>
            <a:ext cx="2413000" cy="1016000"/>
          </a:xfrm>
          <a:prstGeom prst="roundRect">
            <a:avLst>
              <a:gd name="adj" fmla="val 7500"/>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477000" y="4826000"/>
            <a:ext cx="2159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BC9C"/>
                </a:solidFill>
                <a:latin typeface="Arial" panose="020B0604020202020204"/>
                <a:ea typeface="Arial" panose="020B0604020202020204"/>
                <a:cs typeface="Arial" panose="020B0604020202020204"/>
                <a:sym typeface="Arial" panose="020B0604020202020204"/>
              </a:rPr>
              <a:t>/ repository</a:t>
            </a:r>
            <a:endParaRPr lang="en-US" sz="1100"/>
          </a:p>
        </p:txBody>
      </p:sp>
      <p:sp>
        <p:nvSpPr>
          <p:cNvPr id="20" name="AutoShape 20"/>
          <p:cNvSpPr/>
          <p:nvPr/>
        </p:nvSpPr>
        <p:spPr>
          <a:xfrm>
            <a:off x="6477000" y="5207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Data access layer using Spring Data JPA for seamless database interaction.</a:t>
            </a:r>
            <a:endParaRPr lang="en-US" sz="1100"/>
          </a:p>
        </p:txBody>
      </p:sp>
      <p:sp>
        <p:nvSpPr>
          <p:cNvPr id="21" name="AutoShape 21"/>
          <p:cNvSpPr/>
          <p:nvPr/>
        </p:nvSpPr>
        <p:spPr>
          <a:xfrm>
            <a:off x="8890000" y="2413000"/>
            <a:ext cx="2413000" cy="1016000"/>
          </a:xfrm>
          <a:prstGeom prst="roundRect">
            <a:avLst>
              <a:gd name="adj" fmla="val 7500"/>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9017000" y="2540000"/>
            <a:ext cx="2159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BC9C"/>
                </a:solidFill>
                <a:latin typeface="Arial" panose="020B0604020202020204"/>
                <a:ea typeface="Arial" panose="020B0604020202020204"/>
                <a:cs typeface="Arial" panose="020B0604020202020204"/>
                <a:sym typeface="Arial" panose="020B0604020202020204"/>
              </a:rPr>
              <a:t>/ model (Entity)</a:t>
            </a:r>
            <a:endParaRPr lang="en-US" sz="1100"/>
          </a:p>
        </p:txBody>
      </p:sp>
      <p:sp>
        <p:nvSpPr>
          <p:cNvPr id="23" name="AutoShape 23"/>
          <p:cNvSpPr/>
          <p:nvPr/>
        </p:nvSpPr>
        <p:spPr>
          <a:xfrm>
            <a:off x="9017000" y="2921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Defines core domain entities (e.g., Habit, User) and their database mappings.</a:t>
            </a:r>
            <a:endParaRPr lang="en-US" sz="1100"/>
          </a:p>
        </p:txBody>
      </p:sp>
      <p:sp>
        <p:nvSpPr>
          <p:cNvPr id="24" name="AutoShape 24"/>
          <p:cNvSpPr/>
          <p:nvPr/>
        </p:nvSpPr>
        <p:spPr>
          <a:xfrm>
            <a:off x="8890000" y="3556000"/>
            <a:ext cx="2413000" cy="1016000"/>
          </a:xfrm>
          <a:prstGeom prst="roundRect">
            <a:avLst>
              <a:gd name="adj" fmla="val 7500"/>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9017000" y="3683000"/>
            <a:ext cx="2159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BC9C"/>
                </a:solidFill>
                <a:latin typeface="Arial" panose="020B0604020202020204"/>
                <a:ea typeface="Arial" panose="020B0604020202020204"/>
                <a:cs typeface="Arial" panose="020B0604020202020204"/>
                <a:sym typeface="Arial" panose="020B0604020202020204"/>
              </a:rPr>
              <a:t>/ dto (Data Transfer)</a:t>
            </a:r>
            <a:endParaRPr lang="en-US" sz="1100"/>
          </a:p>
        </p:txBody>
      </p:sp>
      <p:sp>
        <p:nvSpPr>
          <p:cNvPr id="26" name="AutoShape 26"/>
          <p:cNvSpPr/>
          <p:nvPr/>
        </p:nvSpPr>
        <p:spPr>
          <a:xfrm>
            <a:off x="9017000" y="4064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Objects for secure and efficient communication between client and server layers.</a:t>
            </a:r>
            <a:endParaRPr lang="en-US" sz="1100"/>
          </a:p>
        </p:txBody>
      </p:sp>
      <p:sp>
        <p:nvSpPr>
          <p:cNvPr id="27" name="AutoShape 27"/>
          <p:cNvSpPr/>
          <p:nvPr/>
        </p:nvSpPr>
        <p:spPr>
          <a:xfrm>
            <a:off x="8890000" y="4699000"/>
            <a:ext cx="2413000" cy="1016000"/>
          </a:xfrm>
          <a:prstGeom prst="roundRect">
            <a:avLst>
              <a:gd name="adj" fmla="val 7500"/>
            </a:avLst>
          </a:prstGeom>
          <a:solidFill>
            <a:srgbClr val="F9FAFB">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9017000" y="4826000"/>
            <a:ext cx="2159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BC9C"/>
                </a:solidFill>
                <a:latin typeface="Arial" panose="020B0604020202020204"/>
                <a:ea typeface="Arial" panose="020B0604020202020204"/>
                <a:cs typeface="Arial" panose="020B0604020202020204"/>
                <a:sym typeface="Arial" panose="020B0604020202020204"/>
              </a:rPr>
              <a:t>/ config &amp; /exception</a:t>
            </a:r>
            <a:endParaRPr lang="en-US" sz="1100"/>
          </a:p>
        </p:txBody>
      </p:sp>
      <p:sp>
        <p:nvSpPr>
          <p:cNvPr id="29" name="AutoShape 29"/>
          <p:cNvSpPr/>
          <p:nvPr/>
        </p:nvSpPr>
        <p:spPr>
          <a:xfrm>
            <a:off x="9017000" y="52070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App configuration classes and a global handler for custom exceptions.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Arial" panose="020B0604020202020204"/>
                <a:ea typeface="Arial" panose="020B0604020202020204"/>
                <a:cs typeface="Arial" panose="020B0604020202020204"/>
                <a:sym typeface="Arial" panose="020B0604020202020204"/>
              </a:rPr>
              <a:t>Core API Endpoints</a:t>
            </a:r>
            <a:endParaRPr lang="en-US" sz="1100"/>
          </a:p>
        </p:txBody>
      </p:sp>
      <p:sp>
        <p:nvSpPr>
          <p:cNvPr id="4" name="AutoShape 4"/>
          <p:cNvSpPr/>
          <p:nvPr/>
        </p:nvSpPr>
        <p:spPr>
          <a:xfrm>
            <a:off x="762000" y="1397000"/>
            <a:ext cx="5334000" cy="4953000"/>
          </a:xfrm>
          <a:prstGeom prst="roundRect">
            <a:avLst>
              <a:gd name="adj" fmla="val 4102"/>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016000" y="1651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BC9C"/>
                </a:solidFill>
                <a:latin typeface="Arial" panose="020B0604020202020204"/>
                <a:ea typeface="Arial" panose="020B0604020202020204"/>
                <a:cs typeface="Arial" panose="020B0604020202020204"/>
                <a:sym typeface="Arial" panose="020B0604020202020204"/>
              </a:rPr>
              <a:t>Resource: /api/habits</a:t>
            </a:r>
            <a:endParaRPr lang="en-US" sz="1100"/>
          </a:p>
        </p:txBody>
      </p:sp>
      <p:sp>
        <p:nvSpPr>
          <p:cNvPr id="6" name="AutoShape 6"/>
          <p:cNvSpPr/>
          <p:nvPr/>
        </p:nvSpPr>
        <p:spPr>
          <a:xfrm>
            <a:off x="1016000" y="2159000"/>
            <a:ext cx="4826000" cy="2667000"/>
          </a:xfrm>
          <a:prstGeom prst="roundRect">
            <a:avLst>
              <a:gd name="adj" fmla="val 3809"/>
            </a:avLst>
          </a:prstGeom>
          <a:solidFill>
            <a:srgbClr val="F7F9FA">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143000" y="2286000"/>
            <a:ext cx="762000" cy="355600"/>
          </a:xfrm>
          <a:prstGeom prst="roundRect">
            <a:avLst>
              <a:gd name="adj" fmla="val 14285"/>
            </a:avLst>
          </a:prstGeom>
          <a:solidFill>
            <a:srgbClr val="27AE6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Songti SC"/>
                <a:ea typeface="Songti SC"/>
                <a:cs typeface="Songti SC"/>
                <a:sym typeface="Songti SC"/>
              </a:rPr>
              <a:t>POST</a:t>
            </a:r>
            <a:endParaRPr lang="en-US" sz="1100"/>
          </a:p>
        </p:txBody>
      </p:sp>
      <p:sp>
        <p:nvSpPr>
          <p:cNvPr id="8" name="AutoShape 8"/>
          <p:cNvSpPr/>
          <p:nvPr/>
        </p:nvSpPr>
        <p:spPr>
          <a:xfrm>
            <a:off x="2032000" y="2286000"/>
            <a:ext cx="139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33333"/>
                </a:solidFill>
                <a:latin typeface="Arial" panose="020B0604020202020204"/>
                <a:ea typeface="Arial" panose="020B0604020202020204"/>
                <a:cs typeface="Arial" panose="020B0604020202020204"/>
                <a:sym typeface="Arial" panose="020B0604020202020204"/>
              </a:rPr>
              <a:t>/api/habits</a:t>
            </a:r>
            <a:endParaRPr lang="en-US" sz="1100"/>
          </a:p>
        </p:txBody>
      </p:sp>
      <p:sp>
        <p:nvSpPr>
          <p:cNvPr id="9" name="AutoShape 9"/>
          <p:cNvSpPr/>
          <p:nvPr/>
        </p:nvSpPr>
        <p:spPr>
          <a:xfrm>
            <a:off x="3556000" y="2286000"/>
            <a:ext cx="139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Arial" panose="020B0604020202020204"/>
                <a:ea typeface="Arial" panose="020B0604020202020204"/>
                <a:cs typeface="Arial" panose="020B0604020202020204"/>
                <a:sym typeface="Arial" panose="020B0604020202020204"/>
              </a:rPr>
              <a:t>Create a new habit</a:t>
            </a:r>
            <a:endParaRPr lang="en-US" sz="1100"/>
          </a:p>
        </p:txBody>
      </p:sp>
      <p:sp>
        <p:nvSpPr>
          <p:cNvPr id="10" name="AutoShape 10"/>
          <p:cNvSpPr/>
          <p:nvPr/>
        </p:nvSpPr>
        <p:spPr>
          <a:xfrm>
            <a:off x="1143000" y="2794000"/>
            <a:ext cx="762000" cy="355600"/>
          </a:xfrm>
          <a:prstGeom prst="roundRect">
            <a:avLst>
              <a:gd name="adj" fmla="val 14285"/>
            </a:avLst>
          </a:prstGeom>
          <a:solidFill>
            <a:srgbClr val="3498DB">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Songti SC"/>
                <a:ea typeface="Songti SC"/>
                <a:cs typeface="Songti SC"/>
                <a:sym typeface="Songti SC"/>
              </a:rPr>
              <a:t>GET</a:t>
            </a:r>
            <a:endParaRPr lang="en-US" sz="1100"/>
          </a:p>
        </p:txBody>
      </p:sp>
      <p:sp>
        <p:nvSpPr>
          <p:cNvPr id="11" name="AutoShape 11"/>
          <p:cNvSpPr/>
          <p:nvPr/>
        </p:nvSpPr>
        <p:spPr>
          <a:xfrm>
            <a:off x="2032000" y="2794000"/>
            <a:ext cx="139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333333"/>
                </a:solidFill>
                <a:latin typeface="Arial" panose="020B0604020202020204"/>
                <a:ea typeface="Arial" panose="020B0604020202020204"/>
                <a:cs typeface="Arial" panose="020B0604020202020204"/>
                <a:sym typeface="Arial" panose="020B0604020202020204"/>
              </a:rPr>
              <a:t>/api/habits</a:t>
            </a:r>
            <a:endParaRPr lang="en-US" sz="1100"/>
          </a:p>
        </p:txBody>
      </p:sp>
      <p:sp>
        <p:nvSpPr>
          <p:cNvPr id="12" name="AutoShape 12"/>
          <p:cNvSpPr/>
          <p:nvPr/>
        </p:nvSpPr>
        <p:spPr>
          <a:xfrm>
            <a:off x="3556000" y="2794000"/>
            <a:ext cx="139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Arial" panose="020B0604020202020204"/>
                <a:ea typeface="Arial" panose="020B0604020202020204"/>
                <a:cs typeface="Arial" panose="020B0604020202020204"/>
                <a:sym typeface="Arial" panose="020B0604020202020204"/>
              </a:rPr>
              <a:t>Retrieve all habits</a:t>
            </a:r>
            <a:endParaRPr lang="en-US" sz="1100"/>
          </a:p>
        </p:txBody>
      </p:sp>
      <p:sp>
        <p:nvSpPr>
          <p:cNvPr id="13" name="AutoShape 13"/>
          <p:cNvSpPr/>
          <p:nvPr/>
        </p:nvSpPr>
        <p:spPr>
          <a:xfrm>
            <a:off x="1143000" y="3302000"/>
            <a:ext cx="762000" cy="355600"/>
          </a:xfrm>
          <a:prstGeom prst="roundRect">
            <a:avLst>
              <a:gd name="adj" fmla="val 14285"/>
            </a:avLst>
          </a:prstGeom>
          <a:solidFill>
            <a:srgbClr val="3498DB">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Songti SC"/>
                <a:ea typeface="Songti SC"/>
                <a:cs typeface="Songti SC"/>
                <a:sym typeface="Songti SC"/>
              </a:rPr>
              <a:t>GET</a:t>
            </a:r>
            <a:endParaRPr lang="en-US" sz="1100"/>
          </a:p>
        </p:txBody>
      </p:sp>
      <p:sp>
        <p:nvSpPr>
          <p:cNvPr id="14" name="AutoShape 14"/>
          <p:cNvSpPr/>
          <p:nvPr/>
        </p:nvSpPr>
        <p:spPr>
          <a:xfrm>
            <a:off x="2032000" y="3302000"/>
            <a:ext cx="139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333333"/>
                </a:solidFill>
                <a:latin typeface="Arial" panose="020B0604020202020204"/>
                <a:ea typeface="Arial" panose="020B0604020202020204"/>
                <a:cs typeface="Arial" panose="020B0604020202020204"/>
                <a:sym typeface="Arial" panose="020B0604020202020204"/>
              </a:rPr>
              <a:t>/habits/{id}</a:t>
            </a:r>
            <a:endParaRPr lang="en-US" sz="1100"/>
          </a:p>
        </p:txBody>
      </p:sp>
      <p:sp>
        <p:nvSpPr>
          <p:cNvPr id="15" name="AutoShape 15"/>
          <p:cNvSpPr/>
          <p:nvPr/>
        </p:nvSpPr>
        <p:spPr>
          <a:xfrm>
            <a:off x="3556000" y="3302000"/>
            <a:ext cx="139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Arial" panose="020B0604020202020204"/>
                <a:ea typeface="Arial" panose="020B0604020202020204"/>
                <a:cs typeface="Arial" panose="020B0604020202020204"/>
                <a:sym typeface="Arial" panose="020B0604020202020204"/>
              </a:rPr>
              <a:t>Get habit by ID</a:t>
            </a:r>
            <a:endParaRPr lang="en-US" sz="1100"/>
          </a:p>
        </p:txBody>
      </p:sp>
      <p:sp>
        <p:nvSpPr>
          <p:cNvPr id="16" name="AutoShape 16"/>
          <p:cNvSpPr/>
          <p:nvPr/>
        </p:nvSpPr>
        <p:spPr>
          <a:xfrm>
            <a:off x="1143000" y="3810000"/>
            <a:ext cx="762000" cy="355600"/>
          </a:xfrm>
          <a:prstGeom prst="roundRect">
            <a:avLst>
              <a:gd name="adj" fmla="val 14285"/>
            </a:avLst>
          </a:prstGeom>
          <a:solidFill>
            <a:srgbClr val="F39C12">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Songti SC"/>
                <a:ea typeface="Songti SC"/>
                <a:cs typeface="Songti SC"/>
                <a:sym typeface="Songti SC"/>
              </a:rPr>
              <a:t>PUT</a:t>
            </a:r>
            <a:endParaRPr lang="en-US" sz="1100"/>
          </a:p>
        </p:txBody>
      </p:sp>
      <p:sp>
        <p:nvSpPr>
          <p:cNvPr id="17" name="AutoShape 17"/>
          <p:cNvSpPr/>
          <p:nvPr/>
        </p:nvSpPr>
        <p:spPr>
          <a:xfrm>
            <a:off x="2032000" y="3810000"/>
            <a:ext cx="139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333333"/>
                </a:solidFill>
                <a:latin typeface="Arial" panose="020B0604020202020204"/>
                <a:ea typeface="Arial" panose="020B0604020202020204"/>
                <a:cs typeface="Arial" panose="020B0604020202020204"/>
                <a:sym typeface="Arial" panose="020B0604020202020204"/>
              </a:rPr>
              <a:t>/habits/{id}</a:t>
            </a:r>
            <a:endParaRPr lang="en-US" sz="1100"/>
          </a:p>
        </p:txBody>
      </p:sp>
      <p:sp>
        <p:nvSpPr>
          <p:cNvPr id="18" name="AutoShape 18"/>
          <p:cNvSpPr/>
          <p:nvPr/>
        </p:nvSpPr>
        <p:spPr>
          <a:xfrm>
            <a:off x="3556000" y="3810000"/>
            <a:ext cx="139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Arial" panose="020B0604020202020204"/>
                <a:ea typeface="Arial" panose="020B0604020202020204"/>
                <a:cs typeface="Arial" panose="020B0604020202020204"/>
                <a:sym typeface="Arial" panose="020B0604020202020204"/>
              </a:rPr>
              <a:t>Update existing habit</a:t>
            </a:r>
            <a:endParaRPr lang="en-US" sz="1100"/>
          </a:p>
        </p:txBody>
      </p:sp>
      <p:sp>
        <p:nvSpPr>
          <p:cNvPr id="19" name="AutoShape 19"/>
          <p:cNvSpPr/>
          <p:nvPr/>
        </p:nvSpPr>
        <p:spPr>
          <a:xfrm>
            <a:off x="1143000" y="4318000"/>
            <a:ext cx="762000" cy="355600"/>
          </a:xfrm>
          <a:prstGeom prst="roundRect">
            <a:avLst>
              <a:gd name="adj" fmla="val 14285"/>
            </a:avLst>
          </a:prstGeom>
          <a:solidFill>
            <a:srgbClr val="E74C3C">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Songti SC"/>
                <a:ea typeface="Songti SC"/>
                <a:cs typeface="Songti SC"/>
                <a:sym typeface="Songti SC"/>
              </a:rPr>
              <a:t>DEL</a:t>
            </a:r>
            <a:endParaRPr lang="en-US" sz="1100"/>
          </a:p>
        </p:txBody>
      </p:sp>
      <p:sp>
        <p:nvSpPr>
          <p:cNvPr id="20" name="AutoShape 20"/>
          <p:cNvSpPr/>
          <p:nvPr/>
        </p:nvSpPr>
        <p:spPr>
          <a:xfrm>
            <a:off x="2032000" y="4318000"/>
            <a:ext cx="139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333333"/>
                </a:solidFill>
                <a:latin typeface="Arial" panose="020B0604020202020204"/>
                <a:ea typeface="Arial" panose="020B0604020202020204"/>
                <a:cs typeface="Arial" panose="020B0604020202020204"/>
                <a:sym typeface="Arial" panose="020B0604020202020204"/>
              </a:rPr>
              <a:t>/habits/{id}</a:t>
            </a:r>
            <a:endParaRPr lang="en-US" sz="1100"/>
          </a:p>
        </p:txBody>
      </p:sp>
      <p:sp>
        <p:nvSpPr>
          <p:cNvPr id="21" name="AutoShape 21"/>
          <p:cNvSpPr/>
          <p:nvPr/>
        </p:nvSpPr>
        <p:spPr>
          <a:xfrm>
            <a:off x="3556000" y="4318000"/>
            <a:ext cx="139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Arial" panose="020B0604020202020204"/>
                <a:ea typeface="Arial" panose="020B0604020202020204"/>
                <a:cs typeface="Arial" panose="020B0604020202020204"/>
                <a:sym typeface="Arial" panose="020B0604020202020204"/>
              </a:rPr>
              <a:t>Delete a habit</a:t>
            </a:r>
            <a:endParaRPr lang="en-US" sz="1100"/>
          </a:p>
        </p:txBody>
      </p:sp>
      <p:sp>
        <p:nvSpPr>
          <p:cNvPr id="22" name="AutoShape 22"/>
          <p:cNvSpPr/>
          <p:nvPr/>
        </p:nvSpPr>
        <p:spPr>
          <a:xfrm>
            <a:off x="1143000" y="4826000"/>
            <a:ext cx="762000" cy="355600"/>
          </a:xfrm>
          <a:prstGeom prst="roundRect">
            <a:avLst>
              <a:gd name="adj" fmla="val 14285"/>
            </a:avLst>
          </a:prstGeom>
          <a:solidFill>
            <a:srgbClr val="9B59B6">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FFFFFF"/>
                </a:solidFill>
                <a:latin typeface="Songti SC"/>
                <a:ea typeface="Songti SC"/>
                <a:cs typeface="Songti SC"/>
                <a:sym typeface="Songti SC"/>
              </a:rPr>
              <a:t>GET</a:t>
            </a:r>
            <a:endParaRPr lang="en-US" sz="1100"/>
          </a:p>
        </p:txBody>
      </p:sp>
      <p:sp>
        <p:nvSpPr>
          <p:cNvPr id="23" name="AutoShape 23"/>
          <p:cNvSpPr/>
          <p:nvPr/>
        </p:nvSpPr>
        <p:spPr>
          <a:xfrm>
            <a:off x="2032000" y="4826000"/>
            <a:ext cx="139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333333"/>
                </a:solidFill>
                <a:latin typeface="Arial" panose="020B0604020202020204"/>
                <a:ea typeface="Arial" panose="020B0604020202020204"/>
                <a:cs typeface="Arial" panose="020B0604020202020204"/>
                <a:sym typeface="Arial" panose="020B0604020202020204"/>
              </a:rPr>
              <a:t>/habits/stats</a:t>
            </a:r>
            <a:endParaRPr lang="en-US" sz="1100"/>
          </a:p>
        </p:txBody>
      </p:sp>
      <p:sp>
        <p:nvSpPr>
          <p:cNvPr id="24" name="AutoShape 24"/>
          <p:cNvSpPr/>
          <p:nvPr/>
        </p:nvSpPr>
        <p:spPr>
          <a:xfrm>
            <a:off x="3556000" y="4826000"/>
            <a:ext cx="1397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666666"/>
                </a:solidFill>
                <a:latin typeface="Arial" panose="020B0604020202020204"/>
                <a:ea typeface="Arial" panose="020B0604020202020204"/>
                <a:cs typeface="Arial" panose="020B0604020202020204"/>
                <a:sym typeface="Arial" panose="020B0604020202020204"/>
              </a:rPr>
              <a:t>Get habit statistics</a:t>
            </a:r>
            <a:endParaRPr lang="en-US" sz="1100"/>
          </a:p>
        </p:txBody>
      </p:sp>
      <p:sp>
        <p:nvSpPr>
          <p:cNvPr id="25" name="AutoShape 25"/>
          <p:cNvSpPr/>
          <p:nvPr/>
        </p:nvSpPr>
        <p:spPr>
          <a:xfrm>
            <a:off x="1016000" y="5397500"/>
            <a:ext cx="2349500" cy="762000"/>
          </a:xfrm>
          <a:prstGeom prst="roundRect">
            <a:avLst>
              <a:gd name="adj" fmla="val 13333"/>
            </a:avLst>
          </a:prstGeom>
          <a:solidFill>
            <a:srgbClr val="E8F8F5">
              <a:alpha val="100000"/>
            </a:srgbClr>
          </a:solidFill>
          <a:ln w="12700" cap="flat" cmpd="sng">
            <a:solidFill>
              <a:srgbClr val="1ABC9C">
                <a:alpha val="4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5562600"/>
            <a:ext cx="406400" cy="406400"/>
          </a:xfrm>
          <a:prstGeom prst="rect">
            <a:avLst/>
          </a:prstGeom>
        </p:spPr>
      </p:pic>
      <p:sp>
        <p:nvSpPr>
          <p:cNvPr id="27" name="AutoShape 27"/>
          <p:cNvSpPr/>
          <p:nvPr/>
        </p:nvSpPr>
        <p:spPr>
          <a:xfrm>
            <a:off x="1651000" y="54610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Arial" panose="020B0604020202020204"/>
                <a:ea typeface="Arial" panose="020B0604020202020204"/>
                <a:cs typeface="Arial" panose="020B0604020202020204"/>
                <a:sym typeface="Arial" panose="020B0604020202020204"/>
              </a:rPr>
              <a:t>JSON Format</a:t>
            </a:r>
            <a:endParaRPr lang="en-US" sz="1100"/>
          </a:p>
          <a:p>
            <a:pPr indent="0" algn="l">
              <a:lnSpc>
                <a:spcPct val="125000"/>
              </a:lnSpc>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All data exchange</a:t>
            </a:r>
            <a:endParaRPr lang="en-US" sz="10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sp>
        <p:nvSpPr>
          <p:cNvPr id="28" name="AutoShape 28"/>
          <p:cNvSpPr/>
          <p:nvPr/>
        </p:nvSpPr>
        <p:spPr>
          <a:xfrm>
            <a:off x="3492500" y="5397500"/>
            <a:ext cx="2349500" cy="762000"/>
          </a:xfrm>
          <a:prstGeom prst="roundRect">
            <a:avLst>
              <a:gd name="adj" fmla="val 13333"/>
            </a:avLst>
          </a:prstGeom>
          <a:solidFill>
            <a:srgbClr val="E8F8F5">
              <a:alpha val="100000"/>
            </a:srgbClr>
          </a:solidFill>
          <a:ln w="12700" cap="flat" cmpd="sng">
            <a:solidFill>
              <a:srgbClr val="1ABC9C">
                <a:alpha val="40000"/>
              </a:srgbClr>
            </a:solid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19500" y="5562600"/>
            <a:ext cx="406400" cy="406400"/>
          </a:xfrm>
          <a:prstGeom prst="rect">
            <a:avLst/>
          </a:prstGeom>
        </p:spPr>
      </p:pic>
      <p:sp>
        <p:nvSpPr>
          <p:cNvPr id="30" name="AutoShape 30"/>
          <p:cNvSpPr/>
          <p:nvPr/>
        </p:nvSpPr>
        <p:spPr>
          <a:xfrm>
            <a:off x="4127500" y="5461000"/>
            <a:ext cx="1651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333333"/>
                </a:solidFill>
                <a:latin typeface="Arial" panose="020B0604020202020204"/>
                <a:ea typeface="Arial" panose="020B0604020202020204"/>
                <a:cs typeface="Arial" panose="020B0604020202020204"/>
                <a:sym typeface="Arial" panose="020B0604020202020204"/>
              </a:rPr>
              <a:t>HTTP Status</a:t>
            </a:r>
            <a:endParaRPr lang="en-US" sz="1100"/>
          </a:p>
          <a:p>
            <a:pPr indent="0" algn="l">
              <a:lnSpc>
                <a:spcPct val="125000"/>
              </a:lnSpc>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200, 201, 404, etc.</a:t>
            </a:r>
            <a:endParaRPr lang="en-US" sz="10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sp>
        <p:nvSpPr>
          <p:cNvPr id="31" name="AutoShape 31"/>
          <p:cNvSpPr/>
          <p:nvPr/>
        </p:nvSpPr>
        <p:spPr>
          <a:xfrm>
            <a:off x="6350000" y="1397000"/>
            <a:ext cx="5080000" cy="4953000"/>
          </a:xfrm>
          <a:prstGeom prst="roundRect">
            <a:avLst>
              <a:gd name="adj" fmla="val 4102"/>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32" name="AutoShape 32"/>
          <p:cNvSpPr/>
          <p:nvPr/>
        </p:nvSpPr>
        <p:spPr>
          <a:xfrm>
            <a:off x="6604000" y="1651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Arial" panose="020B0604020202020204"/>
                <a:ea typeface="Arial" panose="020B0604020202020204"/>
                <a:cs typeface="Arial" panose="020B0604020202020204"/>
                <a:sym typeface="Arial" panose="020B0604020202020204"/>
              </a:rPr>
              <a:t>Interactive API Doc Preview</a:t>
            </a:r>
            <a:endParaRPr lang="en-US" sz="1100"/>
          </a:p>
        </p:txBody>
      </p:sp>
      <p:sp>
        <p:nvSpPr>
          <p:cNvPr id="33" name="AutoShape 33"/>
          <p:cNvSpPr/>
          <p:nvPr/>
        </p:nvSpPr>
        <p:spPr>
          <a:xfrm>
            <a:off x="6604000" y="2159000"/>
            <a:ext cx="4572000" cy="3429000"/>
          </a:xfrm>
          <a:prstGeom prst="roundRect">
            <a:avLst>
              <a:gd name="adj" fmla="val 2962"/>
            </a:avLst>
          </a:prstGeom>
          <a:solidFill>
            <a:srgbClr val="F0F0F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4" name="Picture 34"/>
          <p:cNvPicPr>
            <a:picLocks noChangeAspect="1"/>
          </p:cNvPicPr>
          <p:nvPr/>
        </p:nvPicPr>
        <p:blipFill>
          <a:blip r:embed="rId6"/>
          <a:srcRect l="4472" r="4472"/>
          <a:stretch>
            <a:fillRect/>
          </a:stretch>
        </p:blipFill>
        <p:spPr>
          <a:xfrm>
            <a:off x="6766898" y="2299198"/>
            <a:ext cx="4282102" cy="3148605"/>
          </a:xfrm>
          <a:prstGeom prst="roundRect">
            <a:avLst>
              <a:gd name="adj" fmla="val 2420"/>
            </a:avLst>
          </a:prstGeom>
          <a:noFill/>
          <a:ln w="25400" cap="flat" cmpd="sng">
            <a:noFill/>
            <a:prstDash val="solid"/>
            <a:round/>
          </a:ln>
          <a:effectLst>
            <a:outerShdw blurRad="101600" dist="25400" dir="2700000" algn="tl" rotWithShape="0">
              <a:srgbClr val="000000">
                <a:alpha val="15000"/>
              </a:srgbClr>
            </a:outerShdw>
          </a:effectLst>
        </p:spPr>
      </p:pic>
      <p:sp>
        <p:nvSpPr>
          <p:cNvPr id="35" name="AutoShape 35"/>
          <p:cNvSpPr/>
          <p:nvPr/>
        </p:nvSpPr>
        <p:spPr>
          <a:xfrm>
            <a:off x="6604000" y="5715000"/>
            <a:ext cx="457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808080"/>
                </a:solidFill>
                <a:latin typeface="Arial" panose="020B0604020202020204"/>
                <a:ea typeface="Arial" panose="020B0604020202020204"/>
                <a:cs typeface="Arial" panose="020B0604020202020204"/>
                <a:sym typeface="Arial" panose="020B0604020202020204"/>
              </a:rPr>
              <a:t>Live documentation view powered by Swagger UI</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Arial" panose="020B0604020202020204"/>
                <a:ea typeface="Arial" panose="020B0604020202020204"/>
                <a:cs typeface="Arial" panose="020B0604020202020204"/>
                <a:sym typeface="Arial" panose="020B0604020202020204"/>
              </a:rPr>
              <a:t>Data Management &amp; Robustness</a:t>
            </a:r>
            <a:endParaRPr lang="en-US" sz="1100"/>
          </a:p>
        </p:txBody>
      </p:sp>
      <p:pic>
        <p:nvPicPr>
          <p:cNvPr id="4" name="Picture 4"/>
          <p:cNvPicPr>
            <a:picLocks noChangeAspect="1"/>
          </p:cNvPicPr>
          <p:nvPr/>
        </p:nvPicPr>
        <p:blipFill>
          <a:blip r:embed="rId2"/>
          <a:srcRect l="6853" r="6853"/>
          <a:stretch>
            <a:fillRect/>
          </a:stretch>
        </p:blipFill>
        <p:spPr>
          <a:xfrm>
            <a:off x="762000" y="1651000"/>
            <a:ext cx="4318000" cy="4699000"/>
          </a:xfrm>
          <a:prstGeom prst="roundRect">
            <a:avLst>
              <a:gd name="adj" fmla="val 4705"/>
            </a:avLst>
          </a:prstGeom>
          <a:noFill/>
          <a:ln w="25400" cap="flat" cmpd="sng">
            <a:noFill/>
            <a:prstDash val="solid"/>
            <a:round/>
          </a:ln>
          <a:effectLst>
            <a:outerShdw blurRad="254000" dist="76200" dir="2700000" algn="tl" rotWithShape="0">
              <a:srgbClr val="000000">
                <a:alpha val="12000"/>
              </a:srgbClr>
            </a:outerShdw>
          </a:effectLst>
        </p:spPr>
      </p:pic>
      <p:sp>
        <p:nvSpPr>
          <p:cNvPr id="5" name="AutoShape 5"/>
          <p:cNvSpPr/>
          <p:nvPr/>
        </p:nvSpPr>
        <p:spPr>
          <a:xfrm>
            <a:off x="5334000" y="1651000"/>
            <a:ext cx="6096000" cy="1397000"/>
          </a:xfrm>
          <a:prstGeom prst="roundRect">
            <a:avLst>
              <a:gd name="adj" fmla="val 10909"/>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6" name="AutoShape 6"/>
          <p:cNvSpPr/>
          <p:nvPr/>
        </p:nvSpPr>
        <p:spPr>
          <a:xfrm>
            <a:off x="5524500" y="1968500"/>
            <a:ext cx="762000" cy="762000"/>
          </a:xfrm>
          <a:prstGeom prst="ellipse">
            <a:avLst/>
          </a:prstGeom>
          <a:solidFill>
            <a:srgbClr val="1ABC9C">
              <a:alpha val="12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15000" y="2159000"/>
            <a:ext cx="381000" cy="381000"/>
          </a:xfrm>
          <a:prstGeom prst="rect">
            <a:avLst/>
          </a:prstGeom>
        </p:spPr>
      </p:pic>
      <p:sp>
        <p:nvSpPr>
          <p:cNvPr id="8" name="AutoShape 8"/>
          <p:cNvSpPr/>
          <p:nvPr/>
        </p:nvSpPr>
        <p:spPr>
          <a:xfrm>
            <a:off x="6477000" y="1841500"/>
            <a:ext cx="4699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BC9C"/>
                </a:solidFill>
                <a:latin typeface="Arial" panose="020B0604020202020204"/>
                <a:ea typeface="Arial" panose="020B0604020202020204"/>
                <a:cs typeface="Arial" panose="020B0604020202020204"/>
                <a:sym typeface="Arial" panose="020B0604020202020204"/>
              </a:rPr>
              <a:t>Database Configuration</a:t>
            </a:r>
            <a:endParaRPr lang="en-US" sz="1100"/>
          </a:p>
        </p:txBody>
      </p:sp>
      <p:sp>
        <p:nvSpPr>
          <p:cNvPr id="9" name="AutoShape 9"/>
          <p:cNvSpPr/>
          <p:nvPr/>
        </p:nvSpPr>
        <p:spPr>
          <a:xfrm>
            <a:off x="6477000" y="2286000"/>
            <a:ext cx="4699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555555"/>
                </a:solidFill>
                <a:latin typeface="Arial" panose="020B0604020202020204"/>
                <a:ea typeface="Arial" panose="020B0604020202020204"/>
                <a:cs typeface="Arial" panose="020B0604020202020204"/>
                <a:sym typeface="Arial" panose="020B0604020202020204"/>
              </a:rPr>
              <a:t>Utilizes H2 (in-memory) for rapid testing cycles and Spring Data JPA to eliminate repetitive JDBC boilerplate code, streamlining all CRUD operations.</a:t>
            </a:r>
            <a:endParaRPr lang="en-US" sz="1100"/>
          </a:p>
        </p:txBody>
      </p:sp>
      <p:sp>
        <p:nvSpPr>
          <p:cNvPr id="10" name="AutoShape 10"/>
          <p:cNvSpPr/>
          <p:nvPr/>
        </p:nvSpPr>
        <p:spPr>
          <a:xfrm>
            <a:off x="5334000" y="3302000"/>
            <a:ext cx="6096000" cy="1397000"/>
          </a:xfrm>
          <a:prstGeom prst="roundRect">
            <a:avLst>
              <a:gd name="adj" fmla="val 10909"/>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1" name="AutoShape 11"/>
          <p:cNvSpPr/>
          <p:nvPr/>
        </p:nvSpPr>
        <p:spPr>
          <a:xfrm>
            <a:off x="5524500" y="3619500"/>
            <a:ext cx="762000" cy="762000"/>
          </a:xfrm>
          <a:prstGeom prst="ellipse">
            <a:avLst/>
          </a:prstGeom>
          <a:solidFill>
            <a:srgbClr val="1ABC9C">
              <a:alpha val="12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15000" y="3810000"/>
            <a:ext cx="381000" cy="381000"/>
          </a:xfrm>
          <a:prstGeom prst="rect">
            <a:avLst/>
          </a:prstGeom>
        </p:spPr>
      </p:pic>
      <p:sp>
        <p:nvSpPr>
          <p:cNvPr id="13" name="AutoShape 13"/>
          <p:cNvSpPr/>
          <p:nvPr/>
        </p:nvSpPr>
        <p:spPr>
          <a:xfrm>
            <a:off x="6477000" y="3492500"/>
            <a:ext cx="4699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BC9C"/>
                </a:solidFill>
                <a:latin typeface="Arial" panose="020B0604020202020204"/>
                <a:ea typeface="Arial" panose="020B0604020202020204"/>
                <a:cs typeface="Arial" panose="020B0604020202020204"/>
                <a:sym typeface="Arial" panose="020B0604020202020204"/>
              </a:rPr>
              <a:t>Data Validation</a:t>
            </a:r>
            <a:endParaRPr lang="en-US" sz="1100"/>
          </a:p>
        </p:txBody>
      </p:sp>
      <p:sp>
        <p:nvSpPr>
          <p:cNvPr id="14" name="AutoShape 14"/>
          <p:cNvSpPr/>
          <p:nvPr/>
        </p:nvSpPr>
        <p:spPr>
          <a:xfrm>
            <a:off x="6477000" y="3937000"/>
            <a:ext cx="4699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555555"/>
                </a:solidFill>
                <a:latin typeface="Arial" panose="020B0604020202020204"/>
                <a:ea typeface="Arial" panose="020B0604020202020204"/>
                <a:cs typeface="Arial" panose="020B0604020202020204"/>
                <a:sym typeface="Arial" panose="020B0604020202020204"/>
              </a:rPr>
              <a:t>Integrated Jakarta Validation (Bean Validation) enforces strict data integrity rules (e.g., @NotBlank, @Min) to ensure all incoming API payloads meet business criteria.</a:t>
            </a:r>
            <a:endParaRPr lang="en-US" sz="1100"/>
          </a:p>
        </p:txBody>
      </p:sp>
      <p:sp>
        <p:nvSpPr>
          <p:cNvPr id="15" name="AutoShape 15"/>
          <p:cNvSpPr/>
          <p:nvPr/>
        </p:nvSpPr>
        <p:spPr>
          <a:xfrm>
            <a:off x="5334000" y="4953000"/>
            <a:ext cx="6096000" cy="1397000"/>
          </a:xfrm>
          <a:prstGeom prst="roundRect">
            <a:avLst>
              <a:gd name="adj" fmla="val 10909"/>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6" name="AutoShape 16"/>
          <p:cNvSpPr/>
          <p:nvPr/>
        </p:nvSpPr>
        <p:spPr>
          <a:xfrm>
            <a:off x="5524500" y="5270500"/>
            <a:ext cx="762000" cy="762000"/>
          </a:xfrm>
          <a:prstGeom prst="ellipse">
            <a:avLst/>
          </a:prstGeom>
          <a:solidFill>
            <a:srgbClr val="1ABC9C">
              <a:alpha val="12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15000" y="5461000"/>
            <a:ext cx="381000" cy="381000"/>
          </a:xfrm>
          <a:prstGeom prst="rect">
            <a:avLst/>
          </a:prstGeom>
        </p:spPr>
      </p:pic>
      <p:sp>
        <p:nvSpPr>
          <p:cNvPr id="18" name="AutoShape 18"/>
          <p:cNvSpPr/>
          <p:nvPr/>
        </p:nvSpPr>
        <p:spPr>
          <a:xfrm>
            <a:off x="6477000" y="5143500"/>
            <a:ext cx="4699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BC9C"/>
                </a:solidFill>
                <a:latin typeface="Arial" panose="020B0604020202020204"/>
                <a:ea typeface="Arial" panose="020B0604020202020204"/>
                <a:cs typeface="Arial" panose="020B0604020202020204"/>
                <a:sym typeface="Arial" panose="020B0604020202020204"/>
              </a:rPr>
              <a:t>Global Exception Handling</a:t>
            </a:r>
            <a:endParaRPr lang="en-US" sz="1100"/>
          </a:p>
        </p:txBody>
      </p:sp>
      <p:sp>
        <p:nvSpPr>
          <p:cNvPr id="19" name="AutoShape 19"/>
          <p:cNvSpPr/>
          <p:nvPr/>
        </p:nvSpPr>
        <p:spPr>
          <a:xfrm>
            <a:off x="6477000" y="5588000"/>
            <a:ext cx="4699000" cy="635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200" b="0" i="0" u="none" strike="noStrike">
                <a:solidFill>
                  <a:srgbClr val="555555"/>
                </a:solidFill>
                <a:latin typeface="Arial" panose="020B0604020202020204"/>
                <a:ea typeface="Arial" panose="020B0604020202020204"/>
                <a:cs typeface="Arial" panose="020B0604020202020204"/>
                <a:sym typeface="Arial" panose="020B0604020202020204"/>
              </a:rPr>
              <a:t>A centralized @RestControllerAdvice catches all exceptions, providing consistent, well-structured JSON error responses to improve API usability for consumers.</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Arial" panose="020B0604020202020204"/>
                <a:ea typeface="Arial" panose="020B0604020202020204"/>
                <a:cs typeface="Arial" panose="020B0604020202020204"/>
                <a:sym typeface="Arial" panose="020B0604020202020204"/>
              </a:rPr>
              <a:t>Quality Assurance &amp; Maintainability</a:t>
            </a:r>
            <a:endParaRPr lang="en-US" sz="1100"/>
          </a:p>
        </p:txBody>
      </p:sp>
      <p:sp>
        <p:nvSpPr>
          <p:cNvPr id="4" name="AutoShape 4"/>
          <p:cNvSpPr/>
          <p:nvPr/>
        </p:nvSpPr>
        <p:spPr>
          <a:xfrm>
            <a:off x="762000" y="1524000"/>
            <a:ext cx="5080000" cy="2159000"/>
          </a:xfrm>
          <a:prstGeom prst="roundRect">
            <a:avLst>
              <a:gd name="adj" fmla="val 7058"/>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762000" y="1524000"/>
            <a:ext cx="5080000" cy="76200"/>
          </a:xfrm>
          <a:prstGeom prst="roundRect">
            <a:avLst>
              <a:gd name="adj" fmla="val 0"/>
            </a:avLst>
          </a:prstGeom>
          <a:solidFill>
            <a:srgbClr val="1ABC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841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BC9C"/>
                </a:solidFill>
                <a:latin typeface="Arial" panose="020B0604020202020204"/>
                <a:ea typeface="Arial" panose="020B0604020202020204"/>
                <a:cs typeface="Arial" panose="020B0604020202020204"/>
                <a:sym typeface="Arial" panose="020B0604020202020204"/>
              </a:rPr>
              <a:t>API Documentation (Swagger UI)</a:t>
            </a:r>
            <a:endParaRPr lang="en-US" sz="1100"/>
          </a:p>
        </p:txBody>
      </p:sp>
      <p:sp>
        <p:nvSpPr>
          <p:cNvPr id="7" name="AutoShape 7"/>
          <p:cNvSpPr/>
          <p:nvPr/>
        </p:nvSpPr>
        <p:spPr>
          <a:xfrm>
            <a:off x="1016000" y="2413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1" i="0" u="none" strike="noStrike">
                <a:solidFill>
                  <a:srgbClr val="555555"/>
                </a:solidFill>
                <a:latin typeface="Arial" panose="020B0604020202020204"/>
                <a:ea typeface="Arial" panose="020B0604020202020204"/>
                <a:cs typeface="Arial" panose="020B0604020202020204"/>
                <a:sym typeface="Arial" panose="020B0604020202020204"/>
              </a:rPr>
              <a:t>Springdoc-OpenAPI:</a:t>
            </a:r>
            <a:r>
              <a:rPr lang="en-US" sz="1200" b="0" i="0" u="none" strike="noStrike">
                <a:solidFill>
                  <a:srgbClr val="555555"/>
                </a:solidFill>
                <a:latin typeface="Arial" panose="020B0604020202020204"/>
                <a:ea typeface="Arial" panose="020B0604020202020204"/>
                <a:cs typeface="Arial" panose="020B0604020202020204"/>
                <a:sym typeface="Arial" panose="020B0604020202020204"/>
              </a:rPr>
              <a:t>Auto-generates interactive docs from code annotations.</a:t>
            </a:r>
            <a:endParaRPr lang="en-US" sz="1100"/>
          </a:p>
          <a:p>
            <a:pPr indent="0" algn="l">
              <a:lnSpc>
                <a:spcPct val="117000"/>
              </a:lnSpc>
            </a:pPr>
            <a:r>
              <a:rPr lang="en-US" sz="1200" b="1" i="0" u="none" strike="noStrike">
                <a:solidFill>
                  <a:srgbClr val="555555"/>
                </a:solidFill>
                <a:latin typeface="Arial" panose="020B0604020202020204"/>
                <a:ea typeface="Arial" panose="020B0604020202020204"/>
                <a:cs typeface="Arial" panose="020B0604020202020204"/>
                <a:sym typeface="Arial" panose="020B0604020202020204"/>
              </a:rPr>
              <a:t>Benefit:</a:t>
            </a:r>
            <a:r>
              <a:rPr lang="en-US" sz="1200" b="0" i="0" u="none" strike="noStrike">
                <a:solidFill>
                  <a:srgbClr val="555555"/>
                </a:solidFill>
                <a:latin typeface="Arial" panose="020B0604020202020204"/>
                <a:ea typeface="Arial" panose="020B0604020202020204"/>
                <a:cs typeface="Arial" panose="020B0604020202020204"/>
                <a:sym typeface="Arial" panose="020B0604020202020204"/>
              </a:rPr>
              <a:t>Provides a live interface for developers to explore, test, and understand API endpoints visually.</a:t>
            </a:r>
            <a:endParaRPr lang="en-US" sz="1200" b="0" i="0" u="none" strike="noStrike">
              <a:solidFill>
                <a:srgbClr val="555555"/>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762000" y="3937000"/>
            <a:ext cx="5080000" cy="1905000"/>
          </a:xfrm>
          <a:prstGeom prst="roundRect">
            <a:avLst>
              <a:gd name="adj" fmla="val 8000"/>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9" name="AutoShape 9"/>
          <p:cNvSpPr/>
          <p:nvPr/>
        </p:nvSpPr>
        <p:spPr>
          <a:xfrm>
            <a:off x="762000" y="3937000"/>
            <a:ext cx="5080000" cy="76200"/>
          </a:xfrm>
          <a:prstGeom prst="roundRect">
            <a:avLst>
              <a:gd name="adj" fmla="val 0"/>
            </a:avLst>
          </a:prstGeom>
          <a:solidFill>
            <a:srgbClr val="1ABC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42545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BC9C"/>
                </a:solidFill>
                <a:latin typeface="Arial" panose="020B0604020202020204"/>
                <a:ea typeface="Arial" panose="020B0604020202020204"/>
                <a:cs typeface="Arial" panose="020B0604020202020204"/>
                <a:sym typeface="Arial" panose="020B0604020202020204"/>
              </a:rPr>
              <a:t>Sample Data Initialization</a:t>
            </a:r>
            <a:endParaRPr lang="en-US" sz="1100"/>
          </a:p>
        </p:txBody>
      </p:sp>
      <p:sp>
        <p:nvSpPr>
          <p:cNvPr id="11" name="AutoShape 11"/>
          <p:cNvSpPr/>
          <p:nvPr/>
        </p:nvSpPr>
        <p:spPr>
          <a:xfrm>
            <a:off x="1016000" y="4826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555555"/>
                </a:solidFill>
                <a:latin typeface="Arial" panose="020B0604020202020204"/>
                <a:ea typeface="Arial" panose="020B0604020202020204"/>
                <a:cs typeface="Arial" panose="020B0604020202020204"/>
                <a:sym typeface="Arial" panose="020B0604020202020204"/>
              </a:rPr>
              <a:t>A</a:t>
            </a:r>
            <a:r>
              <a:rPr lang="en-US" sz="1200" b="1" i="0" u="none" strike="noStrike">
                <a:solidFill>
                  <a:srgbClr val="555555"/>
                </a:solidFill>
                <a:latin typeface="Arial" panose="020B0604020202020204"/>
                <a:ea typeface="Arial" panose="020B0604020202020204"/>
                <a:cs typeface="Arial" panose="020B0604020202020204"/>
                <a:sym typeface="Arial" panose="020B0604020202020204"/>
              </a:rPr>
              <a:t>CommandLineRunner</a:t>
            </a:r>
            <a:r>
              <a:rPr lang="en-US" sz="1200" b="0" i="0" u="none" strike="noStrike">
                <a:solidFill>
                  <a:srgbClr val="555555"/>
                </a:solidFill>
                <a:latin typeface="Arial" panose="020B0604020202020204"/>
                <a:ea typeface="Arial" panose="020B0604020202020204"/>
                <a:cs typeface="Arial" panose="020B0604020202020204"/>
                <a:sym typeface="Arial" panose="020B0604020202020204"/>
              </a:rPr>
              <a:t>bean loads predefined test data into the H2 in-memory database on startup, enabling immediate functional testing without manual setup.</a:t>
            </a:r>
            <a:endParaRPr lang="en-US" sz="1100"/>
          </a:p>
        </p:txBody>
      </p:sp>
      <p:sp>
        <p:nvSpPr>
          <p:cNvPr id="12" name="AutoShape 12"/>
          <p:cNvSpPr/>
          <p:nvPr/>
        </p:nvSpPr>
        <p:spPr>
          <a:xfrm>
            <a:off x="6096000" y="1524000"/>
            <a:ext cx="5207000" cy="4826000"/>
          </a:xfrm>
          <a:prstGeom prst="roundRect">
            <a:avLst>
              <a:gd name="adj" fmla="val 3157"/>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3" name="AutoShape 13"/>
          <p:cNvSpPr/>
          <p:nvPr/>
        </p:nvSpPr>
        <p:spPr>
          <a:xfrm>
            <a:off x="6096000" y="1524000"/>
            <a:ext cx="5207000" cy="76200"/>
          </a:xfrm>
          <a:prstGeom prst="roundRect">
            <a:avLst>
              <a:gd name="adj" fmla="val 0"/>
            </a:avLst>
          </a:prstGeom>
          <a:solidFill>
            <a:srgbClr val="1ABC9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350000" y="1841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ABC9C"/>
                </a:solidFill>
                <a:latin typeface="Arial" panose="020B0604020202020204"/>
                <a:ea typeface="Arial" panose="020B0604020202020204"/>
                <a:cs typeface="Arial" panose="020B0604020202020204"/>
                <a:sym typeface="Arial" panose="020B0604020202020204"/>
              </a:rPr>
              <a:t>Version Control (Git)</a:t>
            </a:r>
            <a:endParaRPr lang="en-US" sz="1100"/>
          </a:p>
        </p:txBody>
      </p:sp>
      <p:sp>
        <p:nvSpPr>
          <p:cNvPr id="15" name="AutoShape 15"/>
          <p:cNvSpPr/>
          <p:nvPr/>
        </p:nvSpPr>
        <p:spPr>
          <a:xfrm>
            <a:off x="6350000" y="2413000"/>
            <a:ext cx="4699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555555"/>
                </a:solidFill>
                <a:latin typeface="Arial" panose="020B0604020202020204"/>
                <a:ea typeface="Arial" panose="020B0604020202020204"/>
                <a:cs typeface="Arial" panose="020B0604020202020204"/>
                <a:sym typeface="Arial" panose="020B0604020202020204"/>
              </a:rPr>
              <a:t>Used for full lifecycle source code management, ensuring a complete, immutable history of changes and facilitating seamless team collaboration.</a:t>
            </a:r>
            <a:endParaRPr lang="en-US" sz="1100"/>
          </a:p>
        </p:txBody>
      </p:sp>
      <p:pic>
        <p:nvPicPr>
          <p:cNvPr id="16" name="Picture 16"/>
          <p:cNvPicPr>
            <a:picLocks noChangeAspect="1"/>
          </p:cNvPicPr>
          <p:nvPr/>
        </p:nvPicPr>
        <p:blipFill>
          <a:blip r:embed="rId2"/>
          <a:srcRect t="7142" b="7142"/>
          <a:stretch>
            <a:fillRect/>
          </a:stretch>
        </p:blipFill>
        <p:spPr>
          <a:xfrm>
            <a:off x="6350000" y="3429000"/>
            <a:ext cx="2222500" cy="1905000"/>
          </a:xfrm>
          <a:prstGeom prst="roundRect">
            <a:avLst>
              <a:gd name="adj" fmla="val 6666"/>
            </a:avLst>
          </a:prstGeom>
          <a:noFill/>
          <a:ln w="25400" cap="flat" cmpd="sng">
            <a:noFill/>
            <a:prstDash val="solid"/>
            <a:round/>
          </a:ln>
          <a:effectLst>
            <a:outerShdw blurRad="101600" dist="25400" dir="5400000" algn="tl" rotWithShape="0">
              <a:srgbClr val="000000">
                <a:alpha val="10000"/>
              </a:srgbClr>
            </a:outerShdw>
          </a:effectLst>
        </p:spPr>
      </p:pic>
      <p:pic>
        <p:nvPicPr>
          <p:cNvPr id="17" name="Picture 17"/>
          <p:cNvPicPr>
            <a:picLocks noChangeAspect="1"/>
          </p:cNvPicPr>
          <p:nvPr/>
        </p:nvPicPr>
        <p:blipFill>
          <a:blip r:embed="rId3"/>
          <a:srcRect l="16601" r="16601"/>
          <a:stretch>
            <a:fillRect/>
          </a:stretch>
        </p:blipFill>
        <p:spPr>
          <a:xfrm>
            <a:off x="8699500" y="3429000"/>
            <a:ext cx="2222500" cy="1905000"/>
          </a:xfrm>
          <a:prstGeom prst="roundRect">
            <a:avLst>
              <a:gd name="adj" fmla="val 6666"/>
            </a:avLst>
          </a:prstGeom>
          <a:noFill/>
          <a:ln w="25400" cap="flat" cmpd="sng">
            <a:noFill/>
            <a:prstDash val="solid"/>
            <a:round/>
          </a:ln>
          <a:effectLst>
            <a:outerShdw blurRad="101600" dist="25400" dir="5400000" algn="tl" rotWithShape="0">
              <a:srgbClr val="000000">
                <a:alpha val="10000"/>
              </a:srgbClr>
            </a:outerShdw>
          </a:effectLst>
        </p:spPr>
      </p:pic>
      <p:sp>
        <p:nvSpPr>
          <p:cNvPr id="18" name="AutoShape 18"/>
          <p:cNvSpPr/>
          <p:nvPr/>
        </p:nvSpPr>
        <p:spPr>
          <a:xfrm>
            <a:off x="6350000" y="5588000"/>
            <a:ext cx="4699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100" b="0" i="0" u="none" strike="noStrike">
                <a:solidFill>
                  <a:srgbClr val="808080"/>
                </a:solidFill>
                <a:latin typeface="Arial" panose="020B0604020202020204"/>
                <a:ea typeface="Arial" panose="020B0604020202020204"/>
                <a:cs typeface="Arial" panose="020B0604020202020204"/>
                <a:sym typeface="Arial" panose="020B0604020202020204"/>
              </a:rPr>
              <a:t>Standard Git Workflow: Pull → Commit → Push → Merge</a:t>
            </a:r>
            <a:endParaRPr lang="en-US" sz="1100"/>
          </a:p>
        </p:txBody>
      </p:sp>
      <p:pic>
        <p:nvPicPr>
          <p:cNvPr id="19" name="图片 18" descr="屏幕截图 2026-04-21 000543"/>
          <p:cNvPicPr>
            <a:picLocks noChangeAspect="1"/>
          </p:cNvPicPr>
          <p:nvPr/>
        </p:nvPicPr>
        <p:blipFill>
          <a:blip r:embed="rId4"/>
          <a:stretch>
            <a:fillRect/>
          </a:stretch>
        </p:blipFill>
        <p:spPr>
          <a:xfrm>
            <a:off x="6283325" y="2463800"/>
            <a:ext cx="4765675" cy="31438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Arial" panose="020B0604020202020204"/>
                <a:ea typeface="Arial" panose="020B0604020202020204"/>
                <a:cs typeface="Arial" panose="020B0604020202020204"/>
                <a:sym typeface="Arial" panose="020B0604020202020204"/>
              </a:rPr>
              <a:t>Technical Choices, Reflection, and Conclusion</a:t>
            </a:r>
            <a:endParaRPr lang="en-US" sz="1100"/>
          </a:p>
        </p:txBody>
      </p:sp>
      <p:sp>
        <p:nvSpPr>
          <p:cNvPr id="4" name="AutoShape 4"/>
          <p:cNvSpPr/>
          <p:nvPr/>
        </p:nvSpPr>
        <p:spPr>
          <a:xfrm>
            <a:off x="762000" y="1651000"/>
            <a:ext cx="3302000" cy="2921000"/>
          </a:xfrm>
          <a:prstGeom prst="roundRect">
            <a:avLst>
              <a:gd name="adj" fmla="val 5217"/>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508000" cy="508000"/>
          </a:xfrm>
          <a:prstGeom prst="rect">
            <a:avLst/>
          </a:prstGeom>
        </p:spPr>
      </p:pic>
      <p:sp>
        <p:nvSpPr>
          <p:cNvPr id="6" name="AutoShape 6"/>
          <p:cNvSpPr/>
          <p:nvPr/>
        </p:nvSpPr>
        <p:spPr>
          <a:xfrm>
            <a:off x="1714500" y="1930400"/>
            <a:ext cx="2159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Rationale for Choices</a:t>
            </a:r>
            <a:endParaRPr lang="en-US" sz="1100"/>
          </a:p>
        </p:txBody>
      </p:sp>
      <p:sp>
        <p:nvSpPr>
          <p:cNvPr id="7" name="AutoShape 7"/>
          <p:cNvSpPr/>
          <p:nvPr/>
        </p:nvSpPr>
        <p:spPr>
          <a:xfrm>
            <a:off x="1016000" y="2667000"/>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0E0E0"/>
                </a:solidFill>
                <a:latin typeface="Arial" panose="020B0604020202020204"/>
                <a:ea typeface="Arial" panose="020B0604020202020204"/>
                <a:cs typeface="Arial" panose="020B0604020202020204"/>
                <a:sym typeface="Arial" panose="020B0604020202020204"/>
              </a:rPr>
              <a:t>Selected</a:t>
            </a:r>
            <a:r>
              <a:rPr lang="en-US" sz="1200" b="1" i="0" u="none" strike="noStrike">
                <a:solidFill>
                  <a:srgbClr val="E0E0E0"/>
                </a:solidFill>
                <a:latin typeface="Arial" panose="020B0604020202020204"/>
                <a:ea typeface="Arial" panose="020B0604020202020204"/>
                <a:cs typeface="Arial" panose="020B0604020202020204"/>
                <a:sym typeface="Arial" panose="020B0604020202020204"/>
              </a:rPr>
              <a:t>Java &amp; Spring Boot</a:t>
            </a:r>
            <a:r>
              <a:rPr lang="en-US" sz="1200" b="0" i="0" u="none" strike="noStrike">
                <a:solidFill>
                  <a:srgbClr val="E0E0E0"/>
                </a:solidFill>
                <a:latin typeface="Arial" panose="020B0604020202020204"/>
                <a:ea typeface="Arial" panose="020B0604020202020204"/>
                <a:cs typeface="Arial" panose="020B0604020202020204"/>
                <a:sym typeface="Arial" panose="020B0604020202020204"/>
              </a:rPr>
              <a:t>for familiarity. The robust ecosystem enabled focus on core API design, persistence logic, and overall project structure.</a:t>
            </a:r>
            <a:endParaRPr lang="en-US" sz="1100"/>
          </a:p>
        </p:txBody>
      </p:sp>
      <p:sp>
        <p:nvSpPr>
          <p:cNvPr id="8" name="AutoShape 8"/>
          <p:cNvSpPr/>
          <p:nvPr/>
        </p:nvSpPr>
        <p:spPr>
          <a:xfrm>
            <a:off x="4445000" y="1651000"/>
            <a:ext cx="3302000" cy="2921000"/>
          </a:xfrm>
          <a:prstGeom prst="roundRect">
            <a:avLst>
              <a:gd name="adj" fmla="val 5217"/>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905000"/>
            <a:ext cx="508000" cy="508000"/>
          </a:xfrm>
          <a:prstGeom prst="rect">
            <a:avLst/>
          </a:prstGeom>
        </p:spPr>
      </p:pic>
      <p:sp>
        <p:nvSpPr>
          <p:cNvPr id="10" name="AutoShape 10"/>
          <p:cNvSpPr/>
          <p:nvPr/>
        </p:nvSpPr>
        <p:spPr>
          <a:xfrm>
            <a:off x="5397500" y="1930400"/>
            <a:ext cx="2159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Project Reflection</a:t>
            </a:r>
            <a:endParaRPr lang="en-US" sz="1100"/>
          </a:p>
        </p:txBody>
      </p:sp>
      <p:sp>
        <p:nvSpPr>
          <p:cNvPr id="11" name="AutoShape 11"/>
          <p:cNvSpPr/>
          <p:nvPr/>
        </p:nvSpPr>
        <p:spPr>
          <a:xfrm>
            <a:off x="4699000" y="2667000"/>
            <a:ext cx="2794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0E0E0"/>
                </a:solidFill>
                <a:latin typeface="Arial" panose="020B0604020202020204"/>
                <a:ea typeface="Arial" panose="020B0604020202020204"/>
                <a:cs typeface="Arial" panose="020B0604020202020204"/>
                <a:sym typeface="Arial" panose="020B0604020202020204"/>
              </a:rPr>
              <a:t>Successfully built a fully functional REST API. Mastered DTO patterns for clean contracts, implemented global exception handling, and automated API documentation effectively.</a:t>
            </a:r>
            <a:endParaRPr lang="en-US" sz="1100"/>
          </a:p>
        </p:txBody>
      </p:sp>
      <p:sp>
        <p:nvSpPr>
          <p:cNvPr id="12" name="AutoShape 12"/>
          <p:cNvSpPr/>
          <p:nvPr/>
        </p:nvSpPr>
        <p:spPr>
          <a:xfrm>
            <a:off x="8128000" y="1651000"/>
            <a:ext cx="3302000" cy="2921000"/>
          </a:xfrm>
          <a:prstGeom prst="roundRect">
            <a:avLst>
              <a:gd name="adj" fmla="val 5217"/>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1905000"/>
            <a:ext cx="508000" cy="508000"/>
          </a:xfrm>
          <a:prstGeom prst="rect">
            <a:avLst/>
          </a:prstGeom>
        </p:spPr>
      </p:pic>
      <p:sp>
        <p:nvSpPr>
          <p:cNvPr id="14" name="AutoShape 14"/>
          <p:cNvSpPr/>
          <p:nvPr/>
        </p:nvSpPr>
        <p:spPr>
          <a:xfrm>
            <a:off x="9080500" y="1930400"/>
            <a:ext cx="2159000" cy="444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Key Conclusions</a:t>
            </a:r>
            <a:endParaRPr lang="en-US" sz="1100"/>
          </a:p>
        </p:txBody>
      </p:sp>
      <p:sp>
        <p:nvSpPr>
          <p:cNvPr id="15" name="AutoShape 15"/>
          <p:cNvSpPr/>
          <p:nvPr/>
        </p:nvSpPr>
        <p:spPr>
          <a:xfrm>
            <a:off x="8382000" y="2667000"/>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E0E0E0"/>
                </a:solidFill>
                <a:latin typeface="Arial" panose="020B0604020202020204"/>
                <a:ea typeface="Arial" panose="020B0604020202020204"/>
                <a:cs typeface="Arial" panose="020B0604020202020204"/>
                <a:sym typeface="Arial" panose="020B0604020202020204"/>
              </a:rPr>
              <a:t>The project fully meets all coursework requirements. It provides a solid foundation for future extensions, such as user auth, complex statistics, or a full frontend.</a:t>
            </a:r>
            <a:endParaRPr lang="en-US" sz="1100"/>
          </a:p>
        </p:txBody>
      </p:sp>
      <p:sp>
        <p:nvSpPr>
          <p:cNvPr id="16" name="AutoShape 16"/>
          <p:cNvSpPr/>
          <p:nvPr/>
        </p:nvSpPr>
        <p:spPr>
          <a:xfrm>
            <a:off x="0" y="50165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Arial" panose="020B0604020202020204"/>
                <a:ea typeface="Arial" panose="020B0604020202020204"/>
                <a:cs typeface="Arial" panose="020B0604020202020204"/>
                <a:sym typeface="Arial" panose="020B0604020202020204"/>
              </a:rPr>
              <a:t>THANK YOU</a:t>
            </a:r>
            <a:endParaRPr lang="en-US" sz="1100"/>
          </a:p>
        </p:txBody>
      </p:sp>
      <p:sp>
        <p:nvSpPr>
          <p:cNvPr id="17" name="AutoShape 17"/>
          <p:cNvSpPr/>
          <p:nvPr/>
        </p:nvSpPr>
        <p:spPr>
          <a:xfrm>
            <a:off x="0" y="5969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spc="200">
                <a:solidFill>
                  <a:srgbClr val="06E0C3"/>
                </a:solidFill>
                <a:latin typeface="Arial" panose="020B0604020202020204"/>
                <a:ea typeface="Arial" panose="020B0604020202020204"/>
                <a:cs typeface="Arial" panose="020B0604020202020204"/>
                <a:sym typeface="Arial" panose="020B0604020202020204"/>
              </a:rPr>
              <a:t>Q&amp;A SESSION / ANY QUESTIONS?</a:t>
            </a:r>
            <a:endParaRPr lang="en-US" sz="1100"/>
          </a:p>
        </p:txBody>
      </p:sp>
      <p:pic>
        <p:nvPicPr>
          <p:cNvPr id="18" name="Picture 18"/>
          <p:cNvPicPr>
            <a:picLocks noChangeAspect="1"/>
          </p:cNvPicPr>
          <p:nvPr/>
        </p:nvPicPr>
        <p:blipFill>
          <a:blip r:embed="rId8"/>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3738</Words>
  <Application>WPS 演示</Application>
  <PresentationFormat/>
  <Paragraphs>160</Paragraphs>
  <Slides>7</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7</vt:i4>
      </vt:variant>
    </vt:vector>
  </HeadingPairs>
  <TitlesOfParts>
    <vt:vector size="17" baseType="lpstr">
      <vt:lpstr>Arial</vt:lpstr>
      <vt:lpstr>宋体</vt:lpstr>
      <vt:lpstr>Wingdings</vt:lpstr>
      <vt:lpstr>Arial</vt:lpstr>
      <vt:lpstr>Songti SC</vt:lpstr>
      <vt:lpstr>SWAstro</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WPS_1670319096</cp:lastModifiedBy>
  <cp:revision>1</cp:revision>
  <dcterms:created xsi:type="dcterms:W3CDTF">2026-04-22T05:40:05Z</dcterms:created>
  <dcterms:modified xsi:type="dcterms:W3CDTF">2026-04-22T05:40:05Z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FC2D38401EF04A9E88C8EEF357AFB632_12</vt:lpwstr>
  </property>
  <property fmtid="{D5CDD505-2E9C-101B-9397-08002B2CF9AE}" pid="3" name="KSOProductBuildVer">
    <vt:lpwstr>2052-12.1.0.25865</vt:lpwstr>
  </property>
</Properties>
</file>