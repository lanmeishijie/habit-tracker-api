
<file path=[Content_Types].xml><?xml version="1.0" encoding="utf-8"?>
<Types xmlns="http://schemas.openxmlformats.org/package/2006/content-types">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Master+xml" PartName="/ppt/slideMasters/slideMaster1.xml"/>
  <Override ContentType="application/vnd.openxmlformats-officedocument.presentationml.slideMaster+xml" PartName="/ppt/slideMasters/slideMaster2.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core.xml" Type="http://schemas.openxmlformats.org/package/2006/relationships/metadata/core-properties"/></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 id="2147483660" r:id="rId8"/>
  </p:sldMasterIdLst>
  <p:notesMasterIdLst>
    <p:notesMasterId r:id="rId6"/>
  </p:notesMasterIdLst>
  <p:sldIdLst>
    <p:sldId id="256" r:id="rId9"/>
    <p:sldId id="257" r:id="rId10"/>
    <p:sldId id="258" r:id="rId11"/>
    <p:sldId id="259" r:id="rId12"/>
    <p:sldId id="260" r:id="rId13"/>
    <p:sldId id="261" r:id="rId14"/>
    <p:sldId id="262" r:id="rId15"/>
  </p:sldIdLst>
  <p:sldSz cx="12192000" cy="685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arget="theme/theme1.xml" Type="http://schemas.openxmlformats.org/officeDocument/2006/relationships/theme"/><Relationship Id="rId10" Target="slides/slide2.xml" Type="http://schemas.openxmlformats.org/officeDocument/2006/relationships/slide"/><Relationship Id="rId11" Target="slides/slide3.xml" Type="http://schemas.openxmlformats.org/officeDocument/2006/relationships/slide"/><Relationship Id="rId12" Target="slides/slide4.xml" Type="http://schemas.openxmlformats.org/officeDocument/2006/relationships/slide"/><Relationship Id="rId13" Target="slides/slide5.xml" Type="http://schemas.openxmlformats.org/officeDocument/2006/relationships/slide"/><Relationship Id="rId14" Target="slides/slide6.xml" Type="http://schemas.openxmlformats.org/officeDocument/2006/relationships/slide"/><Relationship Id="rId15" Target="slides/slide7.xml" Type="http://schemas.openxmlformats.org/officeDocument/2006/relationships/slide"/><Relationship Id="rId16" Target="notesSlides/notesSlide1.xml" Type="http://schemas.openxmlformats.org/officeDocument/2006/relationships/notesSlide"/><Relationship Id="rId17" Target="notesSlides/notesSlide2.xml" Type="http://schemas.openxmlformats.org/officeDocument/2006/relationships/notesSlide"/><Relationship Id="rId18" Target="notesSlides/notesSlide3.xml" Type="http://schemas.openxmlformats.org/officeDocument/2006/relationships/notesSlide"/><Relationship Id="rId19" Target="notesSlides/notesSlide4.xml" Type="http://schemas.openxmlformats.org/officeDocument/2006/relationships/notesSlide"/><Relationship Id="rId2" Target="viewProps.xml" Type="http://schemas.openxmlformats.org/officeDocument/2006/relationships/viewProps"/><Relationship Id="rId20" Target="notesSlides/notesSlide5.xml" Type="http://schemas.openxmlformats.org/officeDocument/2006/relationships/notesSlide"/><Relationship Id="rId21" Target="notesSlides/notesSlide6.xml" Type="http://schemas.openxmlformats.org/officeDocument/2006/relationships/notesSlide"/><Relationship Id="rId22" Target="notesSlides/notesSlide7.xml" Type="http://schemas.openxmlformats.org/officeDocument/2006/relationships/notesSlide"/><Relationship Id="rId3" Target="presProps.xml" Type="http://schemas.openxmlformats.org/officeDocument/2006/relationships/presProps"/><Relationship Id="rId4" Target="slideMasters/slideMaster1.xml" Type="http://schemas.openxmlformats.org/officeDocument/2006/relationships/slideMaster"/><Relationship Id="rId6" Target="notesMasters/notesMaster1.xml" Type="http://schemas.openxmlformats.org/officeDocument/2006/relationships/notesMaster"/><Relationship Id="rId7" Target="theme/theme2.xml" Type="http://schemas.openxmlformats.org/officeDocument/2006/relationships/theme"/><Relationship Id="rId8" Target="slideMasters/slideMaster2.xml" Type="http://schemas.openxmlformats.org/officeDocument/2006/relationships/slideMaster"/><Relationship Id="rId9" Target="slides/slide1.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Good morning/afternoon, everyone. My name is [Your Name], and today I'll be presenting my coursework project for the Web Services and Web Data module. The project is a RESTful API designed to help users track and manage their personal habits.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The main goal of this project was to build a fully functional RESTful API. It allows users to perform all essential CRUD operations on their habits and also provides a statistics endpoint for insights. The API is built using a modern tech stack, including Java 17 and Spring Boot, which I'll discuss in more detail later.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To ensure a clean and maintainable codebase, I implemented a layered architecture. The controller receives HTTP requests, the service layer contains the core business logic, and the repository layer handles database interactions. This separation of concerns makes the application modular and easier to test and extend. The project is organized into distinct packages, each with a specific responsibility.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The API exposes a set of standard RESTful endpoints for managing habits. As you can see, it supports all CRUD operations via POST, GET, PUT, and DELETE methods. Additionally, a dedicated endpoint at `/stats` provides users with valuable insights. The API strictly uses JSON and adheres to standard HTTP status codes to communicate the outcome of each request clearly.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For data persistence, I chose the H2 in-memory database, ideal for easy testing. Spring Data JPA abstracts the complexity of JDBC. To ensure data quality, I integrated Jakarta Validation. Furthermore, a global exception handler was implemented to provide consistent and informative error messages, making the API more robust and user-friendly.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A crucial aspect of any web service is good documentation. I used Springdoc-OpenAPI to generate a Swagger UI, which serves as living documentation.</a:t>
            </a:r>
          </a:p>
          <a:p>
            <a:pPr algn="l" indent="0">
              <a:lnSpc>
                <a:spcPct val="100000"/>
              </a:lnSpc>
            </a:pPr>
            <a:r>
              <a:rPr lang="en-US" b="false" i="false" strike="noStrike" u="none" sz="1400">
                <a:solidFill>
                  <a:srgbClr val="000000"/>
                </a:solidFill>
              </a:rPr>
              <a:t>To make testing easier, I implemented a data loader using CommandLineRunner to populate the H2 database with sample data on startup.</a:t>
            </a:r>
          </a:p>
          <a:p>
            <a:pPr algn="l" indent="0">
              <a:lnSpc>
                <a:spcPct val="100000"/>
              </a:lnSpc>
            </a:pPr>
            <a:r>
              <a:rPr lang="en-US" b="false" i="false" strike="noStrike" u="none" sz="1400">
                <a:solidFill>
                  <a:srgbClr val="000000"/>
                </a:solidFill>
              </a:rPr>
              <a:t>Finally, the entire project was managed using Git for version control, ensuring traceability of all development steps and making collaboration straightforward.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indent="0">
              <a:lnSpc>
                <a:spcPct val="100000"/>
              </a:lnSpc>
            </a:pPr>
            <a:r>
              <a:rPr lang="en-US" b="false" i="false" strike="noStrike" u="none" sz="1400">
                <a:solidFill>
                  <a:srgbClr val="000000"/>
                </a:solidFill>
              </a:rPr>
              <a:t>In choosing the technology stack, I prioritized Java and Spring Boot, which allowed me to focus on core concepts. Reflecting on the project, I'm satisfied with the implementation of the core features. In conclusion, this project has been a valuable learning experience, and the resulting API is robust and ready for potential future enhancements. Thank you for your attention. I would be happy to answer any questions.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2.xml.rels><?xml version="1.0" encoding="UTF-8" standalone="yes"?><Relationships xmlns="http://schemas.openxmlformats.org/package/2006/relationships"><Relationship Id="rId1" Target="../slideMasters/slideMaster2.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Shape 5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Shape 11"/>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Shape 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Shape 37"/>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Shape 3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Shape 39"/>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Shape 4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0" name="Shape 50"/>
        <p:cNvGrpSpPr/>
        <p:nvPr/>
      </p:nvGrpSpPr>
      <p:grpSpPr>
        <a:xfrm>
          <a:off x="0" y="0"/>
          <a:ext cx="0" cy="0"/>
          <a:chOff x="0" y="0"/>
          <a:chExt cx="0" cy="0"/>
        </a:xfrm>
      </p:grpSpPr>
      <p:sp>
        <p:nvSpPr>
          <p:cNvPr id="51" name="Shape 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Shape 45"/>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Shape 4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idx="2" type="pic"/>
          </p:nvPr>
        </p:nvSpPr>
        <p:spPr>
          <a:xfrm>
            <a:off x="3887391" y="740569"/>
            <a:ext cx="4629150" cy="3655219"/>
          </a:xfrm>
          <a:prstGeom prst="rect">
            <a:avLst/>
          </a:prstGeom>
          <a:noFill/>
          <a:ln>
            <a:noFill/>
          </a:ln>
        </p:spPr>
      </p:sp>
      <p:sp>
        <p:nvSpPr>
          <p:cNvPr id="64" name="Shape 26"/>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Shape 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Shape 5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竖排标题与文本" type="vertTitleAndTx">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Shape 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_rels/slideMaster2.xml.rels><?xml version="1.0" encoding="UTF-8" standalone="yes"?><Relationships xmlns="http://schemas.openxmlformats.org/package/2006/relationships"><Relationship Id="rId1" Target="../theme/theme3.xml" Type="http://schemas.openxmlformats.org/officeDocument/2006/relationships/theme"/><Relationship Id="rId2" Target="../slideLayouts/slideLayout12.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Shape 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9" name="Shape 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10" name="Shape 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默认主题">
    <p:bg>
      <p:bgPr>
        <a:solidFill>
          <a:srgbClr val="FFFFFF">
            <a:alpha val="100000"/>
          </a:srgbClr>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5748369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1.jpeg" Type="http://schemas.openxmlformats.org/officeDocument/2006/relationships/image"/><Relationship Id="rId3" Target="../notesSlides/notesSlide1.xml" Type="http://schemas.openxmlformats.org/officeDocument/2006/relationships/notesSlide"/></Relationships>
</file>

<file path=ppt/slides/_rels/slide2.xml.rels><?xml version="1.0" encoding="UTF-8" standalone="yes"?><Relationships xmlns="http://schemas.openxmlformats.org/package/2006/relationships"><Relationship Id="rId1" Target="../slideLayouts/slideLayout12.xml" Type="http://schemas.openxmlformats.org/officeDocument/2006/relationships/slideLayout"/><Relationship Id="rId10" Target="../media/image10.svg" Type="http://schemas.openxmlformats.org/officeDocument/2006/relationships/image"/><Relationship Id="rId11" Target="../media/image11.jpeg" Type="http://schemas.openxmlformats.org/officeDocument/2006/relationships/image"/><Relationship Id="rId12" Target="../notesSlides/notesSlide2.xml" Type="http://schemas.openxmlformats.org/officeDocument/2006/relationships/notesSlide"/><Relationship Id="rId2" Target="../media/image2.jpe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media/image12.jpeg" Type="http://schemas.openxmlformats.org/officeDocument/2006/relationships/image"/><Relationship Id="rId4"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media/image13.png" Type="http://schemas.openxmlformats.org/officeDocument/2006/relationships/image"/><Relationship Id="rId4" Target="../media/image14.sv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7.jpeg" Type="http://schemas.openxmlformats.org/officeDocument/2006/relationships/image"/><Relationship Id="rId8"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12.xml" Type="http://schemas.openxmlformats.org/officeDocument/2006/relationships/slideLayout"/><Relationship Id="rId10" Target="../notesSlides/notesSlide5.xml" Type="http://schemas.openxmlformats.org/officeDocument/2006/relationships/notesSlide"/><Relationship Id="rId2" Target="../media/image2.jpeg" Type="http://schemas.openxmlformats.org/officeDocument/2006/relationships/image"/><Relationship Id="rId3" Target="../media/image18.jpeg" Type="http://schemas.openxmlformats.org/officeDocument/2006/relationships/image"/><Relationship Id="rId4" Target="../media/image19.png" Type="http://schemas.openxmlformats.org/officeDocument/2006/relationships/image"/><Relationship Id="rId5" Target="../media/image20.svg" Type="http://schemas.openxmlformats.org/officeDocument/2006/relationships/image"/><Relationship Id="rId6" Target="../media/image15.png" Type="http://schemas.openxmlformats.org/officeDocument/2006/relationships/image"/><Relationship Id="rId7" Target="../media/image16.svg" Type="http://schemas.openxmlformats.org/officeDocument/2006/relationships/image"/><Relationship Id="rId8" Target="../media/image21.png" Type="http://schemas.openxmlformats.org/officeDocument/2006/relationships/image"/><Relationship Id="rId9" Target="../media/image22.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media/image23.jpeg" Type="http://schemas.openxmlformats.org/officeDocument/2006/relationships/image"/><Relationship Id="rId4" Target="../media/image24.jpeg" Type="http://schemas.openxmlformats.org/officeDocument/2006/relationships/image"/><Relationship Id="rId5"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12.xml" Type="http://schemas.openxmlformats.org/officeDocument/2006/relationships/slideLayout"/><Relationship Id="rId10" Target="../media/image32.png" Type="http://schemas.openxmlformats.org/officeDocument/2006/relationships/image"/><Relationship Id="rId2" Target="../media/image25.jpeg" Type="http://schemas.openxmlformats.org/officeDocument/2006/relationships/image"/><Relationship Id="rId3" Target="../media/image26.png" Type="http://schemas.openxmlformats.org/officeDocument/2006/relationships/image"/><Relationship Id="rId4" Target="../media/image27.svg" Type="http://schemas.openxmlformats.org/officeDocument/2006/relationships/image"/><Relationship Id="rId5" Target="../media/image28.png" Type="http://schemas.openxmlformats.org/officeDocument/2006/relationships/image"/><Relationship Id="rId6" Target="../media/image29.svg" Type="http://schemas.openxmlformats.org/officeDocument/2006/relationships/image"/><Relationship Id="rId7" Target="../media/image30.png" Type="http://schemas.openxmlformats.org/officeDocument/2006/relationships/image"/><Relationship Id="rId8" Target="../media/image31.svg" Type="http://schemas.openxmlformats.org/officeDocument/2006/relationships/image"/><Relationship Id="rId9" Target="../notesSlides/notesSlide7.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000000">
              <a:alpha val="4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0" y="1905000"/>
            <a:ext cx="12192000" cy="1016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4800">
                <a:solidFill>
                  <a:srgbClr val="FFFFFF"/>
                </a:solidFill>
                <a:latin typeface="Poppins"/>
                <a:ea typeface="Poppins"/>
                <a:cs typeface="Poppins"/>
                <a:sym typeface="Poppins"/>
              </a:rPr>
              <a:t>Habit Tracker API</a:t>
            </a:r>
            <a:endParaRPr lang="en-US" sz="1100"/>
          </a:p>
        </p:txBody>
      </p:sp>
      <p:sp>
        <p:nvSpPr>
          <p:cNvPr name="AutoShape 4" id="4"/>
          <p:cNvSpPr/>
          <p:nvPr/>
        </p:nvSpPr>
        <p:spPr>
          <a:xfrm rot="0" flipH="false" flipV="false">
            <a:off x="0" y="3048000"/>
            <a:ext cx="12192000" cy="635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false" i="false" strike="noStrike" u="none" sz="2400">
                <a:solidFill>
                  <a:srgbClr val="FFFFFF">
                    <a:alpha val="94902"/>
                  </a:srgbClr>
                </a:solidFill>
                <a:latin typeface="Poppins"/>
                <a:ea typeface="Poppins"/>
                <a:cs typeface="Poppins"/>
                <a:sym typeface="Poppins"/>
              </a:rPr>
              <a:t>A RESTful Service for Personal Habit Management</a:t>
            </a:r>
            <a:endParaRPr lang="en-US" sz="1100"/>
          </a:p>
        </p:txBody>
      </p:sp>
      <p:sp>
        <p:nvSpPr>
          <p:cNvPr name="AutoShape 5" id="5"/>
          <p:cNvSpPr/>
          <p:nvPr/>
        </p:nvSpPr>
        <p:spPr>
          <a:xfrm rot="0" flipH="false" flipV="false">
            <a:off x="0" y="4064000"/>
            <a:ext cx="12192000" cy="508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false" i="false" strike="noStrike" u="none" sz="1600" spc="100">
                <a:solidFill>
                  <a:srgbClr val="FFFFFF">
                    <a:alpha val="80000"/>
                  </a:srgbClr>
                </a:solidFill>
                <a:latin typeface="Poppins"/>
                <a:ea typeface="Poppins"/>
                <a:cs typeface="Poppins"/>
                <a:sym typeface="Poppins"/>
              </a:rPr>
              <a:t>COURSEWORK PROJECT | WEB SERVICES AND WEB DATA</a:t>
            </a:r>
            <a:endParaRPr lang="en-US" sz="1100"/>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8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333333"/>
                </a:solidFill>
                <a:latin typeface="Poppins"/>
                <a:ea typeface="Poppins"/>
                <a:cs typeface="Poppins"/>
                <a:sym typeface="Poppins"/>
              </a:rPr>
              <a:t>Project Overview: Purpose and Scope</a:t>
            </a:r>
            <a:endParaRPr lang="en-US" sz="1100"/>
          </a:p>
        </p:txBody>
      </p:sp>
      <p:sp>
        <p:nvSpPr>
          <p:cNvPr name="AutoShape 4" id="4"/>
          <p:cNvSpPr/>
          <p:nvPr/>
        </p:nvSpPr>
        <p:spPr>
          <a:xfrm rot="0" flipH="false" flipV="false">
            <a:off x="762000" y="1397000"/>
            <a:ext cx="5207000" cy="1143000"/>
          </a:xfrm>
          <a:prstGeom prst="roundRect">
            <a:avLst>
              <a:gd name="adj" fmla="val 11111"/>
            </a:avLst>
          </a:prstGeom>
          <a:solidFill>
            <a:srgbClr val="FFFFFF">
              <a:alpha val="100000"/>
            </a:srgbClr>
          </a:solidFill>
          <a:ln w="25400" cmpd="sng" cap="flat">
            <a:noFill/>
            <a:prstDash val="solid"/>
            <a:round/>
          </a:ln>
          <a:effectLst>
            <a:outerShdw dir="2700000" dist="50800" blurRad="152400" algn="tl" rotWithShape="false">
              <a:srgbClr val="000000">
                <a:alpha val="8000"/>
              </a:srgbClr>
            </a:outerShdw>
          </a:effectLst>
        </p:spPr>
        <p:txBody>
          <a:bodyPr anchor="ctr" rtlCol="false" vert="horz" wrap="square" lIns="63500" rIns="63500" tIns="63500" bIns="63500"/>
          <a:lstStyle/>
          <a:p>
            <a:pPr algn="ctr">
              <a:defRPr/>
            </a:pPr>
            <a:endParaRPr/>
          </a:p>
        </p:txBody>
      </p:sp>
      <p:pic>
        <p:nvPicPr>
          <p:cNvPr name="Picture 5" id="5"/>
          <p:cNvPicPr>
            <a:picLocks noChangeAspect="true"/>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0" flipH="false" flipV="false">
            <a:off x="1016000" y="1587500"/>
            <a:ext cx="508000" cy="508000"/>
          </a:xfrm>
          <a:prstGeom prst="rect">
            <a:avLst/>
          </a:prstGeom>
        </p:spPr>
      </p:pic>
      <p:sp>
        <p:nvSpPr>
          <p:cNvPr name="AutoShape 6" id="6"/>
          <p:cNvSpPr/>
          <p:nvPr/>
        </p:nvSpPr>
        <p:spPr>
          <a:xfrm rot="0" flipH="false" flipV="false">
            <a:off x="1778000" y="1549400"/>
            <a:ext cx="3937000" cy="3048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1ABC9C"/>
                </a:solidFill>
                <a:latin typeface="Poppins"/>
                <a:ea typeface="Poppins"/>
                <a:cs typeface="Poppins"/>
                <a:sym typeface="Poppins"/>
              </a:rPr>
              <a:t>CORE OBJECTIVE</a:t>
            </a:r>
            <a:endParaRPr lang="en-US" sz="1100"/>
          </a:p>
        </p:txBody>
      </p:sp>
      <p:sp>
        <p:nvSpPr>
          <p:cNvPr name="AutoShape 7" id="7"/>
          <p:cNvSpPr/>
          <p:nvPr/>
        </p:nvSpPr>
        <p:spPr>
          <a:xfrm rot="0" flipH="false" flipV="false">
            <a:off x="1778000" y="1905000"/>
            <a:ext cx="3937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8333"/>
              </a:lnSpc>
              <a:defRPr/>
            </a:pPr>
            <a:r>
              <a:rPr lang="en-US" b="false" i="false" strike="noStrike" u="none" sz="1200">
                <a:solidFill>
                  <a:srgbClr val="555555"/>
                </a:solidFill>
                <a:latin typeface="Noto Sans SC"/>
                <a:ea typeface="Noto Sans SC"/>
                <a:cs typeface="Noto Sans SC"/>
                <a:sym typeface="Noto Sans SC"/>
              </a:rPr>
              <a:t>Design and implement a robust, scalable, and well-documented RESTful API to facilitate comprehensive habit tracking.</a:t>
            </a:r>
            <a:endParaRPr lang="en-US" sz="1100"/>
          </a:p>
        </p:txBody>
      </p:sp>
      <p:sp>
        <p:nvSpPr>
          <p:cNvPr name="AutoShape 8" id="8"/>
          <p:cNvSpPr/>
          <p:nvPr/>
        </p:nvSpPr>
        <p:spPr>
          <a:xfrm rot="0" flipH="false" flipV="false">
            <a:off x="762000" y="2730500"/>
            <a:ext cx="5207000" cy="1397000"/>
          </a:xfrm>
          <a:prstGeom prst="roundRect">
            <a:avLst>
              <a:gd name="adj" fmla="val 9090"/>
            </a:avLst>
          </a:prstGeom>
          <a:solidFill>
            <a:srgbClr val="FFFFFF">
              <a:alpha val="100000"/>
            </a:srgbClr>
          </a:solidFill>
          <a:ln w="25400" cmpd="sng" cap="flat">
            <a:noFill/>
            <a:prstDash val="solid"/>
            <a:round/>
          </a:ln>
          <a:effectLst>
            <a:outerShdw dir="2700000" dist="50800" blurRad="152400" algn="tl" rotWithShape="false">
              <a:srgbClr val="000000">
                <a:alpha val="8000"/>
              </a:srgbClr>
            </a:outerShdw>
          </a:effectLst>
        </p:spPr>
        <p:txBody>
          <a:bodyPr anchor="ctr" rtlCol="false" vert="horz" wrap="square" lIns="63500" rIns="63500" tIns="63500" bIns="63500"/>
          <a:lstStyle/>
          <a:p>
            <a:pPr algn="ctr">
              <a:defRPr/>
            </a:pPr>
            <a:endParaRPr/>
          </a:p>
        </p:txBody>
      </p:sp>
      <p:pic>
        <p:nvPicPr>
          <p:cNvPr name="Picture 9" id="9"/>
          <p:cNvPicPr>
            <a:picLocks noChangeAspect="true"/>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0" flipH="false" flipV="false">
            <a:off x="1016000" y="2984500"/>
            <a:ext cx="508000" cy="508000"/>
          </a:xfrm>
          <a:prstGeom prst="rect">
            <a:avLst/>
          </a:prstGeom>
        </p:spPr>
      </p:pic>
      <p:sp>
        <p:nvSpPr>
          <p:cNvPr name="AutoShape 10" id="10"/>
          <p:cNvSpPr/>
          <p:nvPr/>
        </p:nvSpPr>
        <p:spPr>
          <a:xfrm rot="0" flipH="false" flipV="false">
            <a:off x="1778000" y="2882900"/>
            <a:ext cx="3937000" cy="3048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1ABC9C"/>
                </a:solidFill>
                <a:latin typeface="Poppins"/>
                <a:ea typeface="Poppins"/>
                <a:cs typeface="Poppins"/>
                <a:sym typeface="Poppins"/>
              </a:rPr>
              <a:t>KEY FUNCTIONALITY</a:t>
            </a:r>
            <a:endParaRPr lang="en-US" sz="1100"/>
          </a:p>
        </p:txBody>
      </p:sp>
      <p:sp>
        <p:nvSpPr>
          <p:cNvPr name="AutoShape 11" id="11"/>
          <p:cNvSpPr/>
          <p:nvPr/>
        </p:nvSpPr>
        <p:spPr>
          <a:xfrm rot="0" flipH="false" flipV="false">
            <a:off x="1778000" y="3238500"/>
            <a:ext cx="3937000" cy="762000"/>
          </a:xfrm>
          <a:prstGeom prst="rect">
            <a:avLst/>
          </a:prstGeom>
          <a:noFill/>
          <a:ln w="12700" cmpd="sng" cap="flat">
            <a:noFill/>
            <a:prstDash val="solid"/>
            <a:round/>
          </a:ln>
        </p:spPr>
        <p:txBody>
          <a:bodyPr anchor="ctr" rtlCol="false" anchorCtr="false" vert="horz" wrap="square" lIns="0" rIns="0" tIns="0" bIns="0"/>
          <a:lstStyle/>
          <a:p>
            <a:pPr algn="l" indent="0">
              <a:lnSpc>
                <a:spcPct val="108333"/>
              </a:lnSpc>
              <a:defRPr/>
            </a:pPr>
            <a:r>
              <a:rPr lang="en-US" b="false" i="false" strike="noStrike" u="none" sz="1100">
                <a:solidFill>
                  <a:srgbClr val="555555"/>
                </a:solidFill>
                <a:latin typeface="Noto Sans SC"/>
                <a:ea typeface="Noto Sans SC"/>
                <a:cs typeface="Noto Sans SC"/>
                <a:sym typeface="Noto Sans SC"/>
              </a:rPr>
              <a:t>• CRUD Operations for Habit Management | • Data Validation &amp; Integrity</a:t>
            </a:r>
            <a:r>
              <a:rPr lang="en-US" b="false" i="false" strike="noStrike" u="none" sz="1100">
                <a:solidFill>
                  <a:srgbClr val="555555"/>
                </a:solidFill>
                <a:latin typeface="Noto Sans SC"/>
                <a:ea typeface="Noto Sans SC"/>
                <a:cs typeface="Noto Sans SC"/>
                <a:sym typeface="Noto Sans SC"/>
              </a:rPr>
              <a:t/>
            </a:r>
            <a:br>
              <a:rPr lang="en-US" b="false" i="false" strike="noStrike" u="none" sz="1100">
                <a:solidFill>
                  <a:srgbClr val="555555"/>
                </a:solidFill>
                <a:latin typeface="Noto Sans SC"/>
                <a:ea typeface="Noto Sans SC"/>
                <a:cs typeface="Noto Sans SC"/>
                <a:sym typeface="Noto Sans SC"/>
              </a:rPr>
            </a:br>
            <a:r>
              <a:rPr lang="en-US" b="false" i="false" strike="noStrike" u="none" sz="1100">
                <a:solidFill>
                  <a:srgbClr val="555555"/>
                </a:solidFill>
                <a:latin typeface="Noto Sans SC"/>
                <a:ea typeface="Noto Sans SC"/>
                <a:cs typeface="Noto Sans SC"/>
                <a:sym typeface="Noto Sans SC"/>
              </a:rPr>
              <a:t>• Real-time Statistics (Streaks/Rates) | • Comprehensive API Docs</a:t>
            </a:r>
            <a:endParaRPr lang="en-US" sz="1100"/>
          </a:p>
        </p:txBody>
      </p:sp>
      <p:sp>
        <p:nvSpPr>
          <p:cNvPr name="AutoShape 12" id="12"/>
          <p:cNvSpPr/>
          <p:nvPr/>
        </p:nvSpPr>
        <p:spPr>
          <a:xfrm rot="0" flipH="false" flipV="false">
            <a:off x="762000" y="4318000"/>
            <a:ext cx="5207000" cy="1079500"/>
          </a:xfrm>
          <a:prstGeom prst="roundRect">
            <a:avLst>
              <a:gd name="adj" fmla="val 11764"/>
            </a:avLst>
          </a:prstGeom>
          <a:solidFill>
            <a:srgbClr val="FFFFFF">
              <a:alpha val="100000"/>
            </a:srgbClr>
          </a:solidFill>
          <a:ln w="25400" cmpd="sng" cap="flat">
            <a:noFill/>
            <a:prstDash val="solid"/>
            <a:round/>
          </a:ln>
          <a:effectLst>
            <a:outerShdw dir="2700000" dist="50800" blurRad="152400" algn="tl" rotWithShape="false">
              <a:srgbClr val="000000">
                <a:alpha val="8000"/>
              </a:srgbClr>
            </a:outerShdw>
          </a:effectLst>
        </p:spPr>
        <p:txBody>
          <a:bodyPr anchor="ctr" rtlCol="false" vert="horz" wrap="square" lIns="63500" rIns="63500" tIns="63500" bIns="63500"/>
          <a:lstStyle/>
          <a:p>
            <a:pPr algn="ctr">
              <a:defRPr/>
            </a:pPr>
            <a:endParaRPr/>
          </a:p>
        </p:txBody>
      </p:sp>
      <p:pic>
        <p:nvPicPr>
          <p:cNvPr name="Picture 13" id="13"/>
          <p:cNvPicPr>
            <a:picLocks noChangeAspect="true"/>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rot="0" flipH="false" flipV="false">
            <a:off x="1016000" y="4508500"/>
            <a:ext cx="508000" cy="508000"/>
          </a:xfrm>
          <a:prstGeom prst="rect">
            <a:avLst/>
          </a:prstGeom>
        </p:spPr>
      </p:pic>
      <p:sp>
        <p:nvSpPr>
          <p:cNvPr name="AutoShape 14" id="14"/>
          <p:cNvSpPr/>
          <p:nvPr/>
        </p:nvSpPr>
        <p:spPr>
          <a:xfrm rot="0" flipH="false" flipV="false">
            <a:off x="1778000" y="4445000"/>
            <a:ext cx="3937000" cy="3048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1ABC9C"/>
                </a:solidFill>
                <a:latin typeface="Poppins"/>
                <a:ea typeface="Poppins"/>
                <a:cs typeface="Poppins"/>
                <a:sym typeface="Poppins"/>
              </a:rPr>
              <a:t>TARGET AUDIENCE</a:t>
            </a:r>
            <a:endParaRPr lang="en-US" sz="1100"/>
          </a:p>
        </p:txBody>
      </p:sp>
      <p:sp>
        <p:nvSpPr>
          <p:cNvPr name="AutoShape 15" id="15"/>
          <p:cNvSpPr/>
          <p:nvPr/>
        </p:nvSpPr>
        <p:spPr>
          <a:xfrm rot="0" flipH="false" flipV="false">
            <a:off x="1778000" y="4826000"/>
            <a:ext cx="3937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200">
                <a:solidFill>
                  <a:srgbClr val="555555"/>
                </a:solidFill>
                <a:latin typeface="Noto Sans SC"/>
                <a:ea typeface="Noto Sans SC"/>
                <a:cs typeface="Noto Sans SC"/>
                <a:sym typeface="Noto Sans SC"/>
              </a:rPr>
              <a:t>Individuals seeking a reliable digital solution to monitor, analyze, and improve their daily habits.</a:t>
            </a:r>
            <a:endParaRPr lang="en-US" sz="1100"/>
          </a:p>
        </p:txBody>
      </p:sp>
      <p:sp>
        <p:nvSpPr>
          <p:cNvPr name="AutoShape 16" id="16"/>
          <p:cNvSpPr/>
          <p:nvPr/>
        </p:nvSpPr>
        <p:spPr>
          <a:xfrm rot="0" flipH="false" flipV="false">
            <a:off x="762000" y="5588000"/>
            <a:ext cx="5207000" cy="1016000"/>
          </a:xfrm>
          <a:prstGeom prst="roundRect">
            <a:avLst>
              <a:gd name="adj" fmla="val 12500"/>
            </a:avLst>
          </a:prstGeom>
          <a:solidFill>
            <a:srgbClr val="FFFFFF">
              <a:alpha val="100000"/>
            </a:srgbClr>
          </a:solidFill>
          <a:ln w="25400" cmpd="sng" cap="flat">
            <a:noFill/>
            <a:prstDash val="solid"/>
            <a:round/>
          </a:ln>
          <a:effectLst>
            <a:outerShdw dir="2700000" dist="50800" blurRad="152400" algn="tl" rotWithShape="false">
              <a:srgbClr val="000000">
                <a:alpha val="8000"/>
              </a:srgbClr>
            </a:outerShdw>
          </a:effectLst>
        </p:spPr>
        <p:txBody>
          <a:bodyPr anchor="ctr" rtlCol="false" vert="horz" wrap="square" lIns="63500" rIns="63500" tIns="63500" bIns="63500"/>
          <a:lstStyle/>
          <a:p>
            <a:pPr algn="ctr">
              <a:defRPr/>
            </a:pPr>
            <a:endParaRPr/>
          </a:p>
        </p:txBody>
      </p:sp>
      <p:pic>
        <p:nvPicPr>
          <p:cNvPr name="Picture 17" id="17"/>
          <p:cNvPicPr>
            <a:picLocks noChangeAspect="true"/>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rot="0" flipH="false" flipV="false">
            <a:off x="1016000" y="5778500"/>
            <a:ext cx="508000" cy="508000"/>
          </a:xfrm>
          <a:prstGeom prst="rect">
            <a:avLst/>
          </a:prstGeom>
        </p:spPr>
      </p:pic>
      <p:sp>
        <p:nvSpPr>
          <p:cNvPr name="AutoShape 18" id="18"/>
          <p:cNvSpPr/>
          <p:nvPr/>
        </p:nvSpPr>
        <p:spPr>
          <a:xfrm rot="0" flipH="false" flipV="false">
            <a:off x="1778000" y="5715000"/>
            <a:ext cx="3937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400">
                <a:solidFill>
                  <a:srgbClr val="1ABC9C"/>
                </a:solidFill>
                <a:latin typeface="Poppins"/>
                <a:ea typeface="Poppins"/>
                <a:cs typeface="Poppins"/>
                <a:sym typeface="Poppins"/>
              </a:rPr>
              <a:t>TECH STACK &amp; TOOLS</a:t>
            </a:r>
            <a:endParaRPr lang="en-US" sz="1100"/>
          </a:p>
        </p:txBody>
      </p:sp>
      <p:sp>
        <p:nvSpPr>
          <p:cNvPr name="AutoShape 19" id="19"/>
          <p:cNvSpPr/>
          <p:nvPr/>
        </p:nvSpPr>
        <p:spPr>
          <a:xfrm rot="0" flipH="false" flipV="false">
            <a:off x="1778000" y="5994400"/>
            <a:ext cx="3937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Java 17 • Spring Boot • Spring Data JPA • H2 DB • Jakarta Validation • OpenAPI</a:t>
            </a:r>
            <a:endParaRPr lang="en-US" sz="1100"/>
          </a:p>
        </p:txBody>
      </p:sp>
      <p:sp>
        <p:nvSpPr>
          <p:cNvPr name="AutoShape 20" id="20"/>
          <p:cNvSpPr/>
          <p:nvPr/>
        </p:nvSpPr>
        <p:spPr>
          <a:xfrm rot="0" flipH="false" flipV="false">
            <a:off x="6223000" y="1397000"/>
            <a:ext cx="4953000" cy="4953000"/>
          </a:xfrm>
          <a:prstGeom prst="roundRect">
            <a:avLst>
              <a:gd name="adj" fmla="val 2564"/>
            </a:avLst>
          </a:prstGeom>
          <a:solidFill>
            <a:srgbClr val="FFFFFF">
              <a:alpha val="100000"/>
            </a:srgbClr>
          </a:solidFill>
          <a:ln w="25400" cmpd="sng" cap="flat">
            <a:noFill/>
            <a:prstDash val="solid"/>
            <a:round/>
          </a:ln>
          <a:effectLst>
            <a:outerShdw dir="2700000" dist="76200" blurRad="228600" algn="tl" rotWithShape="false">
              <a:srgbClr val="000000">
                <a:alpha val="12000"/>
              </a:srgbClr>
            </a:outerShdw>
          </a:effectLst>
        </p:spPr>
        <p:txBody>
          <a:bodyPr anchor="ctr" rtlCol="false" vert="horz" wrap="square" lIns="63500" rIns="63500" tIns="63500" bIns="63500"/>
          <a:lstStyle/>
          <a:p>
            <a:pPr algn="ctr">
              <a:defRPr/>
            </a:pPr>
            <a:endParaRPr/>
          </a:p>
        </p:txBody>
      </p:sp>
      <p:pic>
        <p:nvPicPr>
          <p:cNvPr name="Picture 21" id="21"/>
          <p:cNvPicPr>
            <a:picLocks noChangeAspect="true"/>
          </p:cNvPicPr>
          <p:nvPr/>
        </p:nvPicPr>
        <p:blipFill>
          <a:blip r:embed="rId11"/>
          <a:srcRect l="17291" r="17291" t="0" b="0"/>
          <a:stretch>
            <a:fillRect/>
          </a:stretch>
        </p:blipFill>
        <p:spPr>
          <a:xfrm rot="0" flipH="false" flipV="false">
            <a:off x="6477000" y="1651000"/>
            <a:ext cx="4445000" cy="3556000"/>
          </a:xfrm>
          <a:prstGeom prst="roundRect">
            <a:avLst>
              <a:gd name="adj" fmla="val 2857"/>
            </a:avLst>
          </a:prstGeom>
          <a:noFill/>
          <a:ln w="25400" cmpd="sng" cap="flat">
            <a:noFill/>
            <a:prstDash val="solid"/>
            <a:round/>
          </a:ln>
        </p:spPr>
      </p:pic>
      <p:sp>
        <p:nvSpPr>
          <p:cNvPr name="AutoShape 22" id="22"/>
          <p:cNvSpPr/>
          <p:nvPr/>
        </p:nvSpPr>
        <p:spPr>
          <a:xfrm rot="0" flipH="false" flipV="false">
            <a:off x="6477000" y="5397500"/>
            <a:ext cx="4445000" cy="508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300">
                <a:solidFill>
                  <a:srgbClr val="333333"/>
                </a:solidFill>
                <a:latin typeface="Poppins"/>
                <a:ea typeface="Poppins"/>
                <a:cs typeface="Poppins"/>
                <a:sym typeface="Poppins"/>
              </a:rPr>
              <a:t>System Architecture Diagram</a:t>
            </a:r>
            <a:r>
              <a:rPr lang="en-US" b="false" i="false" strike="noStrike" u="none" sz="1600">
                <a:solidFill>
                  <a:srgbClr val="1F2329"/>
                </a:solidFill>
                <a:latin typeface="Noto Sans SC"/>
                <a:ea typeface="Noto Sans SC"/>
                <a:cs typeface="Noto Sans SC"/>
                <a:sym typeface="Noto Sans SC"/>
              </a:rPr>
              <a:t/>
            </a:r>
            <a:endParaRPr lang="en-US" sz="1100"/>
          </a:p>
          <a:p>
            <a:pPr algn="ctr" indent="0">
              <a:lnSpc>
                <a:spcPct val="125000"/>
              </a:lnSpc>
            </a:pPr>
            <a:r>
              <a:rPr lang="en-US" b="false" i="false" strike="noStrike" u="none" sz="1100">
                <a:solidFill>
                  <a:srgbClr val="808080"/>
                </a:solidFill>
                <a:latin typeface="Noto Sans SC"/>
                <a:ea typeface="Noto Sans SC"/>
                <a:cs typeface="Noto Sans SC"/>
                <a:sym typeface="Noto Sans SC"/>
              </a:rPr>
              <a:t>Client-Server Interaction Model</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8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333333"/>
                </a:solidFill>
                <a:latin typeface="Poppins"/>
                <a:ea typeface="Poppins"/>
                <a:cs typeface="Poppins"/>
                <a:sym typeface="Poppins"/>
              </a:rPr>
              <a:t>Architecture and Project Structure</a:t>
            </a:r>
            <a:endParaRPr lang="en-US" sz="1100"/>
          </a:p>
        </p:txBody>
      </p:sp>
      <p:sp>
        <p:nvSpPr>
          <p:cNvPr name="AutoShape 4" id="4"/>
          <p:cNvSpPr/>
          <p:nvPr/>
        </p:nvSpPr>
        <p:spPr>
          <a:xfrm rot="0" flipH="false" flipV="false">
            <a:off x="762000" y="1524000"/>
            <a:ext cx="5080000" cy="4953000"/>
          </a:xfrm>
          <a:prstGeom prst="roundRect">
            <a:avLst>
              <a:gd name="adj" fmla="val 3076"/>
            </a:avLst>
          </a:prstGeom>
          <a:solidFill>
            <a:srgbClr val="FFFFFF">
              <a:alpha val="100000"/>
            </a:srgbClr>
          </a:solidFill>
          <a:ln w="25400" cmpd="sng" cap="flat">
            <a:noFill/>
            <a:prstDash val="solid"/>
            <a:round/>
          </a:ln>
          <a:effectLst>
            <a:outerShdw dir="2700000" dist="50800" blurRad="1905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5" id="5"/>
          <p:cNvSpPr/>
          <p:nvPr/>
        </p:nvSpPr>
        <p:spPr>
          <a:xfrm rot="0" flipH="false" flipV="false">
            <a:off x="1016000" y="1778000"/>
            <a:ext cx="4572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Architectural Pattern</a:t>
            </a:r>
            <a:endParaRPr lang="en-US" sz="1100"/>
          </a:p>
        </p:txBody>
      </p:sp>
      <p:sp>
        <p:nvSpPr>
          <p:cNvPr name="AutoShape 6" id="6"/>
          <p:cNvSpPr/>
          <p:nvPr/>
        </p:nvSpPr>
        <p:spPr>
          <a:xfrm rot="0" flipH="false" flipV="false">
            <a:off x="1016000" y="2286000"/>
            <a:ext cx="4572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8333"/>
              </a:lnSpc>
              <a:defRPr/>
            </a:pPr>
            <a:r>
              <a:rPr lang="en-US" b="false" i="false" strike="noStrike" u="none" sz="1200">
                <a:solidFill>
                  <a:srgbClr val="555555"/>
                </a:solidFill>
                <a:latin typeface="Poppins"/>
                <a:ea typeface="Poppins"/>
                <a:cs typeface="Poppins"/>
                <a:sym typeface="Poppins"/>
              </a:rPr>
              <a:t>The application is built on a robust layered architecture, strictly adhering to the MVC (Model-View-Controller) design pattern for separation of concerns.</a:t>
            </a:r>
            <a:endParaRPr lang="en-US" sz="1100"/>
          </a:p>
        </p:txBody>
      </p:sp>
      <p:sp>
        <p:nvSpPr>
          <p:cNvPr name="AutoShape 7" id="7"/>
          <p:cNvSpPr/>
          <p:nvPr/>
        </p:nvSpPr>
        <p:spPr>
          <a:xfrm rot="0" flipH="false" flipV="false">
            <a:off x="1016000" y="2984500"/>
            <a:ext cx="4572000" cy="762000"/>
          </a:xfrm>
          <a:prstGeom prst="roundRect">
            <a:avLst>
              <a:gd name="adj" fmla="val 13333"/>
            </a:avLst>
          </a:prstGeom>
          <a:solidFill>
            <a:srgbClr val="ECF9F7">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1143000" y="3111500"/>
            <a:ext cx="431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true" i="false" strike="noStrike" u="none" sz="1200">
                <a:solidFill>
                  <a:srgbClr val="1ABC9C"/>
                </a:solidFill>
                <a:latin typeface="Poppins"/>
                <a:ea typeface="Poppins"/>
                <a:cs typeface="Poppins"/>
                <a:sym typeface="Poppins"/>
              </a:rPr>
              <a:t>Data Flow:</a:t>
            </a:r>
            <a:r>
              <a:rPr lang="en-US" b="false" i="false" strike="noStrike" u="none" sz="1100">
                <a:solidFill>
                  <a:srgbClr val="3C3C3C"/>
                </a:solidFill>
                <a:latin typeface="Poppins"/>
                <a:ea typeface="Poppins"/>
                <a:cs typeface="Poppins"/>
                <a:sym typeface="Poppins"/>
              </a:rPr>
              <a:t>Client → Controller → Service → Repository → Database</a:t>
            </a:r>
            <a:endParaRPr lang="en-US" sz="1100"/>
          </a:p>
        </p:txBody>
      </p:sp>
      <p:pic>
        <p:nvPicPr>
          <p:cNvPr name="Picture 9" id="9"/>
          <p:cNvPicPr>
            <a:picLocks noChangeAspect="true"/>
          </p:cNvPicPr>
          <p:nvPr/>
        </p:nvPicPr>
        <p:blipFill>
          <a:blip r:embed="rId3"/>
          <a:srcRect l="0" r="0" t="8428" b="8428"/>
          <a:stretch>
            <a:fillRect/>
          </a:stretch>
        </p:blipFill>
        <p:spPr>
          <a:xfrm rot="0" flipH="false" flipV="false">
            <a:off x="1016000" y="3937000"/>
            <a:ext cx="4572000" cy="2286000"/>
          </a:xfrm>
          <a:prstGeom prst="roundRect">
            <a:avLst>
              <a:gd name="adj" fmla="val 4444"/>
            </a:avLst>
          </a:prstGeom>
          <a:noFill/>
          <a:ln w="25400" cmpd="sng" cap="flat">
            <a:noFill/>
            <a:prstDash val="solid"/>
            <a:round/>
          </a:ln>
          <a:effectLst>
            <a:outerShdw dir="2700000" dist="25400" blurRad="101600" algn="tl" rotWithShape="false">
              <a:srgbClr val="000000">
                <a:alpha val="10000"/>
              </a:srgbClr>
            </a:outerShdw>
          </a:effectLst>
        </p:spPr>
      </p:pic>
      <p:sp>
        <p:nvSpPr>
          <p:cNvPr name="AutoShape 10" id="10"/>
          <p:cNvSpPr/>
          <p:nvPr/>
        </p:nvSpPr>
        <p:spPr>
          <a:xfrm rot="0" flipH="false" flipV="false">
            <a:off x="6096000" y="1524000"/>
            <a:ext cx="5334000" cy="4953000"/>
          </a:xfrm>
          <a:prstGeom prst="roundRect">
            <a:avLst>
              <a:gd name="adj" fmla="val 3076"/>
            </a:avLst>
          </a:prstGeom>
          <a:solidFill>
            <a:srgbClr val="FFFFFF">
              <a:alpha val="100000"/>
            </a:srgbClr>
          </a:solidFill>
          <a:ln w="25400" cmpd="sng" cap="flat">
            <a:noFill/>
            <a:prstDash val="solid"/>
            <a:round/>
          </a:ln>
          <a:effectLst>
            <a:outerShdw dir="2700000" dist="50800" blurRad="1905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6350000" y="1778000"/>
            <a:ext cx="4826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Core Packages &amp; Responsibilities</a:t>
            </a:r>
            <a:endParaRPr lang="en-US" sz="1100"/>
          </a:p>
        </p:txBody>
      </p:sp>
      <p:sp>
        <p:nvSpPr>
          <p:cNvPr name="AutoShape 12" id="12"/>
          <p:cNvSpPr/>
          <p:nvPr/>
        </p:nvSpPr>
        <p:spPr>
          <a:xfrm rot="0" flipH="false" flipV="false">
            <a:off x="6350000" y="2413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6477000" y="2540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controller</a:t>
            </a:r>
            <a:endParaRPr lang="en-US" sz="1100"/>
          </a:p>
        </p:txBody>
      </p:sp>
      <p:sp>
        <p:nvSpPr>
          <p:cNvPr name="AutoShape 14" id="14"/>
          <p:cNvSpPr/>
          <p:nvPr/>
        </p:nvSpPr>
        <p:spPr>
          <a:xfrm rot="0" flipH="false" flipV="false">
            <a:off x="6477000" y="2921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Entry point for HTTP requests/responses; maps endpoints to service logic.</a:t>
            </a:r>
            <a:endParaRPr lang="en-US" sz="1100"/>
          </a:p>
        </p:txBody>
      </p:sp>
      <p:sp>
        <p:nvSpPr>
          <p:cNvPr name="AutoShape 15" id="15"/>
          <p:cNvSpPr/>
          <p:nvPr/>
        </p:nvSpPr>
        <p:spPr>
          <a:xfrm rot="0" flipH="false" flipV="false">
            <a:off x="6350000" y="3556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6477000" y="3683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service</a:t>
            </a:r>
            <a:endParaRPr lang="en-US" sz="1100"/>
          </a:p>
        </p:txBody>
      </p:sp>
      <p:sp>
        <p:nvSpPr>
          <p:cNvPr name="AutoShape 17" id="17"/>
          <p:cNvSpPr/>
          <p:nvPr/>
        </p:nvSpPr>
        <p:spPr>
          <a:xfrm rot="0" flipH="false" flipV="false">
            <a:off x="6477000" y="4064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Contains core business logic, validations, and orchestrates data flow between layers.</a:t>
            </a:r>
            <a:endParaRPr lang="en-US" sz="1100"/>
          </a:p>
        </p:txBody>
      </p:sp>
      <p:sp>
        <p:nvSpPr>
          <p:cNvPr name="AutoShape 18" id="18"/>
          <p:cNvSpPr/>
          <p:nvPr/>
        </p:nvSpPr>
        <p:spPr>
          <a:xfrm rot="0" flipH="false" flipV="false">
            <a:off x="6350000" y="4699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19" id="19"/>
          <p:cNvSpPr/>
          <p:nvPr/>
        </p:nvSpPr>
        <p:spPr>
          <a:xfrm rot="0" flipH="false" flipV="false">
            <a:off x="6477000" y="4826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repository</a:t>
            </a:r>
            <a:endParaRPr lang="en-US" sz="1100"/>
          </a:p>
        </p:txBody>
      </p:sp>
      <p:sp>
        <p:nvSpPr>
          <p:cNvPr name="AutoShape 20" id="20"/>
          <p:cNvSpPr/>
          <p:nvPr/>
        </p:nvSpPr>
        <p:spPr>
          <a:xfrm rot="0" flipH="false" flipV="false">
            <a:off x="6477000" y="5207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Data access layer using Spring Data JPA for seamless database interaction.</a:t>
            </a:r>
            <a:endParaRPr lang="en-US" sz="1100"/>
          </a:p>
        </p:txBody>
      </p:sp>
      <p:sp>
        <p:nvSpPr>
          <p:cNvPr name="AutoShape 21" id="21"/>
          <p:cNvSpPr/>
          <p:nvPr/>
        </p:nvSpPr>
        <p:spPr>
          <a:xfrm rot="0" flipH="false" flipV="false">
            <a:off x="8890000" y="2413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9017000" y="2540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model (Entity)</a:t>
            </a:r>
            <a:endParaRPr lang="en-US" sz="1100"/>
          </a:p>
        </p:txBody>
      </p:sp>
      <p:sp>
        <p:nvSpPr>
          <p:cNvPr name="AutoShape 23" id="23"/>
          <p:cNvSpPr/>
          <p:nvPr/>
        </p:nvSpPr>
        <p:spPr>
          <a:xfrm rot="0" flipH="false" flipV="false">
            <a:off x="9017000" y="2921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Defines core domain entities (e.g., Habit, User) and their database mappings.</a:t>
            </a:r>
            <a:endParaRPr lang="en-US" sz="1100"/>
          </a:p>
        </p:txBody>
      </p:sp>
      <p:sp>
        <p:nvSpPr>
          <p:cNvPr name="AutoShape 24" id="24"/>
          <p:cNvSpPr/>
          <p:nvPr/>
        </p:nvSpPr>
        <p:spPr>
          <a:xfrm rot="0" flipH="false" flipV="false">
            <a:off x="8890000" y="3556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9017000" y="3683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dto (Data Transfer)</a:t>
            </a:r>
            <a:endParaRPr lang="en-US" sz="1100"/>
          </a:p>
        </p:txBody>
      </p:sp>
      <p:sp>
        <p:nvSpPr>
          <p:cNvPr name="AutoShape 26" id="26"/>
          <p:cNvSpPr/>
          <p:nvPr/>
        </p:nvSpPr>
        <p:spPr>
          <a:xfrm rot="0" flipH="false" flipV="false">
            <a:off x="9017000" y="4064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Objects for secure and efficient communication between client and server layers.</a:t>
            </a:r>
            <a:endParaRPr lang="en-US" sz="1100"/>
          </a:p>
        </p:txBody>
      </p:sp>
      <p:sp>
        <p:nvSpPr>
          <p:cNvPr name="AutoShape 27" id="27"/>
          <p:cNvSpPr/>
          <p:nvPr/>
        </p:nvSpPr>
        <p:spPr>
          <a:xfrm rot="0" flipH="false" flipV="false">
            <a:off x="8890000" y="4699000"/>
            <a:ext cx="2413000" cy="1016000"/>
          </a:xfrm>
          <a:prstGeom prst="roundRect">
            <a:avLst>
              <a:gd name="adj" fmla="val 7500"/>
            </a:avLst>
          </a:prstGeom>
          <a:solidFill>
            <a:srgbClr val="F9FAFB">
              <a:alpha val="100000"/>
            </a:srgbClr>
          </a:solidFill>
          <a:ln w="12700" cmpd="sng" cap="flat">
            <a:solidFill>
              <a:srgbClr val="E6E6E6">
                <a:alpha val="100000"/>
              </a:srgbClr>
            </a:solidFill>
            <a:prstDash val="solid"/>
            <a:round/>
          </a:ln>
        </p:spPr>
        <p:txBody>
          <a:bodyPr anchor="ctr" rtlCol="false" vert="horz" wrap="square" lIns="63500" rIns="63500" tIns="63500" bIns="63500"/>
          <a:lstStyle/>
          <a:p>
            <a:pPr algn="ctr">
              <a:defRPr/>
            </a:pPr>
            <a:endParaRPr/>
          </a:p>
        </p:txBody>
      </p:sp>
      <p:sp>
        <p:nvSpPr>
          <p:cNvPr name="AutoShape 28" id="28"/>
          <p:cNvSpPr/>
          <p:nvPr/>
        </p:nvSpPr>
        <p:spPr>
          <a:xfrm rot="0" flipH="false" flipV="false">
            <a:off x="9017000" y="4826000"/>
            <a:ext cx="2159000" cy="254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300">
                <a:solidFill>
                  <a:srgbClr val="1ABC9C"/>
                </a:solidFill>
                <a:latin typeface="Poppins"/>
                <a:ea typeface="Poppins"/>
                <a:cs typeface="Poppins"/>
                <a:sym typeface="Poppins"/>
              </a:rPr>
              <a:t>/ config &amp; /exception</a:t>
            </a:r>
            <a:endParaRPr lang="en-US" sz="1100"/>
          </a:p>
        </p:txBody>
      </p:sp>
      <p:sp>
        <p:nvSpPr>
          <p:cNvPr name="AutoShape 29" id="29"/>
          <p:cNvSpPr/>
          <p:nvPr/>
        </p:nvSpPr>
        <p:spPr>
          <a:xfrm rot="0" flipH="false" flipV="false">
            <a:off x="9017000" y="5207000"/>
            <a:ext cx="2159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00000"/>
              </a:lnSpc>
              <a:defRPr/>
            </a:pPr>
            <a:r>
              <a:rPr lang="en-US" b="false" i="false" strike="noStrike" u="none" sz="1000">
                <a:solidFill>
                  <a:srgbClr val="666666"/>
                </a:solidFill>
                <a:latin typeface="Poppins"/>
                <a:ea typeface="Poppins"/>
                <a:cs typeface="Poppins"/>
                <a:sym typeface="Poppins"/>
              </a:rPr>
              <a:t>App configuration classes and a global handler for custom exceptions.</a:t>
            </a:r>
            <a:endParaRPr lang="en-US" sz="1100"/>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333333"/>
                </a:solidFill>
                <a:latin typeface="Poppins"/>
                <a:ea typeface="Poppins"/>
                <a:cs typeface="Poppins"/>
                <a:sym typeface="Poppins"/>
              </a:rPr>
              <a:t>Core API Endpoints</a:t>
            </a:r>
            <a:endParaRPr lang="en-US" sz="1100"/>
          </a:p>
        </p:txBody>
      </p:sp>
      <p:sp>
        <p:nvSpPr>
          <p:cNvPr name="AutoShape 4" id="4"/>
          <p:cNvSpPr/>
          <p:nvPr/>
        </p:nvSpPr>
        <p:spPr>
          <a:xfrm rot="0" flipH="false" flipV="false">
            <a:off x="762000" y="1397000"/>
            <a:ext cx="5334000" cy="4953000"/>
          </a:xfrm>
          <a:prstGeom prst="roundRect">
            <a:avLst>
              <a:gd name="adj" fmla="val 4102"/>
            </a:avLst>
          </a:prstGeom>
          <a:solidFill>
            <a:srgbClr val="FFFFFF">
              <a:alpha val="95000"/>
            </a:srgbClr>
          </a:solidFill>
          <a:ln w="25400" cmpd="sng" cap="flat">
            <a:noFill/>
            <a:prstDash val="solid"/>
            <a:round/>
          </a:ln>
          <a:effectLst>
            <a:outerShdw dir="2700000" dist="50800" blurRad="2032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5" id="5"/>
          <p:cNvSpPr/>
          <p:nvPr/>
        </p:nvSpPr>
        <p:spPr>
          <a:xfrm rot="0" flipH="false" flipV="false">
            <a:off x="1016000" y="1651000"/>
            <a:ext cx="4826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Resource: /api/habits</a:t>
            </a:r>
            <a:endParaRPr lang="en-US" sz="1100"/>
          </a:p>
        </p:txBody>
      </p:sp>
      <p:sp>
        <p:nvSpPr>
          <p:cNvPr name="AutoShape 6" id="6"/>
          <p:cNvSpPr/>
          <p:nvPr/>
        </p:nvSpPr>
        <p:spPr>
          <a:xfrm rot="0" flipH="false" flipV="false">
            <a:off x="1016000" y="2159000"/>
            <a:ext cx="4826000" cy="2667000"/>
          </a:xfrm>
          <a:prstGeom prst="roundRect">
            <a:avLst>
              <a:gd name="adj" fmla="val 3809"/>
            </a:avLst>
          </a:prstGeom>
          <a:solidFill>
            <a:srgbClr val="F7F9FA">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1143000" y="2286000"/>
            <a:ext cx="762000" cy="355600"/>
          </a:xfrm>
          <a:prstGeom prst="roundRect">
            <a:avLst>
              <a:gd name="adj" fmla="val 14285"/>
            </a:avLst>
          </a:prstGeom>
          <a:solidFill>
            <a:srgbClr val="27AE60">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POST</a:t>
            </a:r>
            <a:endParaRPr lang="en-US" sz="1100"/>
          </a:p>
        </p:txBody>
      </p:sp>
      <p:sp>
        <p:nvSpPr>
          <p:cNvPr name="AutoShape 8" id="8"/>
          <p:cNvSpPr/>
          <p:nvPr/>
        </p:nvSpPr>
        <p:spPr>
          <a:xfrm rot="0" flipH="false" flipV="false">
            <a:off x="2032000" y="2286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200">
                <a:solidFill>
                  <a:srgbClr val="333333"/>
                </a:solidFill>
                <a:latin typeface="Roboto Mono"/>
                <a:ea typeface="Roboto Mono"/>
                <a:cs typeface="Roboto Mono"/>
                <a:sym typeface="Roboto Mono"/>
              </a:rPr>
              <a:t>/api/habits</a:t>
            </a:r>
            <a:endParaRPr lang="en-US" sz="1100"/>
          </a:p>
        </p:txBody>
      </p:sp>
      <p:sp>
        <p:nvSpPr>
          <p:cNvPr name="AutoShape 9" id="9"/>
          <p:cNvSpPr/>
          <p:nvPr/>
        </p:nvSpPr>
        <p:spPr>
          <a:xfrm rot="0" flipH="false" flipV="false">
            <a:off x="3556000" y="2286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Create a new habit</a:t>
            </a:r>
            <a:endParaRPr lang="en-US" sz="1100"/>
          </a:p>
        </p:txBody>
      </p:sp>
      <p:sp>
        <p:nvSpPr>
          <p:cNvPr name="AutoShape 10" id="10"/>
          <p:cNvSpPr/>
          <p:nvPr/>
        </p:nvSpPr>
        <p:spPr>
          <a:xfrm rot="0" flipH="false" flipV="false">
            <a:off x="1143000" y="2794000"/>
            <a:ext cx="762000" cy="355600"/>
          </a:xfrm>
          <a:prstGeom prst="roundRect">
            <a:avLst>
              <a:gd name="adj" fmla="val 14285"/>
            </a:avLst>
          </a:prstGeom>
          <a:solidFill>
            <a:srgbClr val="3498DB">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GET</a:t>
            </a:r>
            <a:endParaRPr lang="en-US" sz="1100"/>
          </a:p>
        </p:txBody>
      </p:sp>
      <p:sp>
        <p:nvSpPr>
          <p:cNvPr name="AutoShape 11" id="11"/>
          <p:cNvSpPr/>
          <p:nvPr/>
        </p:nvSpPr>
        <p:spPr>
          <a:xfrm rot="0" flipH="false" flipV="false">
            <a:off x="2032000" y="2794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200">
                <a:solidFill>
                  <a:srgbClr val="333333"/>
                </a:solidFill>
                <a:latin typeface="Roboto Mono"/>
                <a:ea typeface="Roboto Mono"/>
                <a:cs typeface="Roboto Mono"/>
                <a:sym typeface="Roboto Mono"/>
              </a:rPr>
              <a:t>/api/habits</a:t>
            </a:r>
            <a:endParaRPr lang="en-US" sz="1100"/>
          </a:p>
        </p:txBody>
      </p:sp>
      <p:sp>
        <p:nvSpPr>
          <p:cNvPr name="AutoShape 12" id="12"/>
          <p:cNvSpPr/>
          <p:nvPr/>
        </p:nvSpPr>
        <p:spPr>
          <a:xfrm rot="0" flipH="false" flipV="false">
            <a:off x="3556000" y="2794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Retrieve all habits</a:t>
            </a:r>
            <a:endParaRPr lang="en-US" sz="1100"/>
          </a:p>
        </p:txBody>
      </p:sp>
      <p:sp>
        <p:nvSpPr>
          <p:cNvPr name="AutoShape 13" id="13"/>
          <p:cNvSpPr/>
          <p:nvPr/>
        </p:nvSpPr>
        <p:spPr>
          <a:xfrm rot="0" flipH="false" flipV="false">
            <a:off x="1143000" y="3302000"/>
            <a:ext cx="762000" cy="355600"/>
          </a:xfrm>
          <a:prstGeom prst="roundRect">
            <a:avLst>
              <a:gd name="adj" fmla="val 14285"/>
            </a:avLst>
          </a:prstGeom>
          <a:solidFill>
            <a:srgbClr val="3498DB">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GET</a:t>
            </a:r>
            <a:endParaRPr lang="en-US" sz="1100"/>
          </a:p>
        </p:txBody>
      </p:sp>
      <p:sp>
        <p:nvSpPr>
          <p:cNvPr name="AutoShape 14" id="14"/>
          <p:cNvSpPr/>
          <p:nvPr/>
        </p:nvSpPr>
        <p:spPr>
          <a:xfrm rot="0" flipH="false" flipV="false">
            <a:off x="2032000" y="3302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333333"/>
                </a:solidFill>
                <a:latin typeface="Roboto Mono"/>
                <a:ea typeface="Roboto Mono"/>
                <a:cs typeface="Roboto Mono"/>
                <a:sym typeface="Roboto Mono"/>
              </a:rPr>
              <a:t>/habits/{id}</a:t>
            </a:r>
            <a:endParaRPr lang="en-US" sz="1100"/>
          </a:p>
        </p:txBody>
      </p:sp>
      <p:sp>
        <p:nvSpPr>
          <p:cNvPr name="AutoShape 15" id="15"/>
          <p:cNvSpPr/>
          <p:nvPr/>
        </p:nvSpPr>
        <p:spPr>
          <a:xfrm rot="0" flipH="false" flipV="false">
            <a:off x="3556000" y="3302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Get habit by ID</a:t>
            </a:r>
            <a:endParaRPr lang="en-US" sz="1100"/>
          </a:p>
        </p:txBody>
      </p:sp>
      <p:sp>
        <p:nvSpPr>
          <p:cNvPr name="AutoShape 16" id="16"/>
          <p:cNvSpPr/>
          <p:nvPr/>
        </p:nvSpPr>
        <p:spPr>
          <a:xfrm rot="0" flipH="false" flipV="false">
            <a:off x="1143000" y="3810000"/>
            <a:ext cx="762000" cy="355600"/>
          </a:xfrm>
          <a:prstGeom prst="roundRect">
            <a:avLst>
              <a:gd name="adj" fmla="val 14285"/>
            </a:avLst>
          </a:prstGeom>
          <a:solidFill>
            <a:srgbClr val="F39C12">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PUT</a:t>
            </a:r>
            <a:endParaRPr lang="en-US" sz="1100"/>
          </a:p>
        </p:txBody>
      </p:sp>
      <p:sp>
        <p:nvSpPr>
          <p:cNvPr name="AutoShape 17" id="17"/>
          <p:cNvSpPr/>
          <p:nvPr/>
        </p:nvSpPr>
        <p:spPr>
          <a:xfrm rot="0" flipH="false" flipV="false">
            <a:off x="2032000" y="3810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333333"/>
                </a:solidFill>
                <a:latin typeface="Roboto Mono"/>
                <a:ea typeface="Roboto Mono"/>
                <a:cs typeface="Roboto Mono"/>
                <a:sym typeface="Roboto Mono"/>
              </a:rPr>
              <a:t>/habits/{id}</a:t>
            </a:r>
            <a:endParaRPr lang="en-US" sz="1100"/>
          </a:p>
        </p:txBody>
      </p:sp>
      <p:sp>
        <p:nvSpPr>
          <p:cNvPr name="AutoShape 18" id="18"/>
          <p:cNvSpPr/>
          <p:nvPr/>
        </p:nvSpPr>
        <p:spPr>
          <a:xfrm rot="0" flipH="false" flipV="false">
            <a:off x="3556000" y="3810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Update existing habit</a:t>
            </a:r>
            <a:endParaRPr lang="en-US" sz="1100"/>
          </a:p>
        </p:txBody>
      </p:sp>
      <p:sp>
        <p:nvSpPr>
          <p:cNvPr name="AutoShape 19" id="19"/>
          <p:cNvSpPr/>
          <p:nvPr/>
        </p:nvSpPr>
        <p:spPr>
          <a:xfrm rot="0" flipH="false" flipV="false">
            <a:off x="1143000" y="4318000"/>
            <a:ext cx="762000" cy="355600"/>
          </a:xfrm>
          <a:prstGeom prst="roundRect">
            <a:avLst>
              <a:gd name="adj" fmla="val 14285"/>
            </a:avLst>
          </a:prstGeom>
          <a:solidFill>
            <a:srgbClr val="E74C3C">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DEL</a:t>
            </a:r>
            <a:endParaRPr lang="en-US" sz="1100"/>
          </a:p>
        </p:txBody>
      </p:sp>
      <p:sp>
        <p:nvSpPr>
          <p:cNvPr name="AutoShape 20" id="20"/>
          <p:cNvSpPr/>
          <p:nvPr/>
        </p:nvSpPr>
        <p:spPr>
          <a:xfrm rot="0" flipH="false" flipV="false">
            <a:off x="2032000" y="4318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333333"/>
                </a:solidFill>
                <a:latin typeface="Roboto Mono"/>
                <a:ea typeface="Roboto Mono"/>
                <a:cs typeface="Roboto Mono"/>
                <a:sym typeface="Roboto Mono"/>
              </a:rPr>
              <a:t>/habits/{id}</a:t>
            </a:r>
            <a:endParaRPr lang="en-US" sz="1100"/>
          </a:p>
        </p:txBody>
      </p:sp>
      <p:sp>
        <p:nvSpPr>
          <p:cNvPr name="AutoShape 21" id="21"/>
          <p:cNvSpPr/>
          <p:nvPr/>
        </p:nvSpPr>
        <p:spPr>
          <a:xfrm rot="0" flipH="false" flipV="false">
            <a:off x="3556000" y="4318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Delete a habit</a:t>
            </a:r>
            <a:endParaRPr lang="en-US" sz="1100"/>
          </a:p>
        </p:txBody>
      </p:sp>
      <p:sp>
        <p:nvSpPr>
          <p:cNvPr name="AutoShape 22" id="22"/>
          <p:cNvSpPr/>
          <p:nvPr/>
        </p:nvSpPr>
        <p:spPr>
          <a:xfrm rot="0" flipH="false" flipV="false">
            <a:off x="1143000" y="4826000"/>
            <a:ext cx="762000" cy="355600"/>
          </a:xfrm>
          <a:prstGeom prst="roundRect">
            <a:avLst>
              <a:gd name="adj" fmla="val 14285"/>
            </a:avLst>
          </a:prstGeom>
          <a:solidFill>
            <a:srgbClr val="9B59B6">
              <a:alpha val="100000"/>
            </a:srgbClr>
          </a:solidFill>
          <a:ln w="254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1200">
                <a:solidFill>
                  <a:srgbClr val="FFFFFF"/>
                </a:solidFill>
                <a:latin typeface="Poppins"/>
                <a:ea typeface="Poppins"/>
                <a:cs typeface="Poppins"/>
                <a:sym typeface="Poppins"/>
              </a:rPr>
              <a:t>GET</a:t>
            </a:r>
            <a:endParaRPr lang="en-US" sz="1100"/>
          </a:p>
        </p:txBody>
      </p:sp>
      <p:sp>
        <p:nvSpPr>
          <p:cNvPr name="AutoShape 23" id="23"/>
          <p:cNvSpPr/>
          <p:nvPr/>
        </p:nvSpPr>
        <p:spPr>
          <a:xfrm rot="0" flipH="false" flipV="false">
            <a:off x="2032000" y="4826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333333"/>
                </a:solidFill>
                <a:latin typeface="Roboto Mono"/>
                <a:ea typeface="Roboto Mono"/>
                <a:cs typeface="Roboto Mono"/>
                <a:sym typeface="Roboto Mono"/>
              </a:rPr>
              <a:t>/habits/stats</a:t>
            </a:r>
            <a:endParaRPr lang="en-US" sz="1100"/>
          </a:p>
        </p:txBody>
      </p:sp>
      <p:sp>
        <p:nvSpPr>
          <p:cNvPr name="AutoShape 24" id="24"/>
          <p:cNvSpPr/>
          <p:nvPr/>
        </p:nvSpPr>
        <p:spPr>
          <a:xfrm rot="0" flipH="false" flipV="false">
            <a:off x="3556000" y="4826000"/>
            <a:ext cx="1397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false" i="false" strike="noStrike" u="none" sz="1100">
                <a:solidFill>
                  <a:srgbClr val="666666"/>
                </a:solidFill>
                <a:latin typeface="Noto Sans SC"/>
                <a:ea typeface="Noto Sans SC"/>
                <a:cs typeface="Noto Sans SC"/>
                <a:sym typeface="Noto Sans SC"/>
              </a:rPr>
              <a:t>Get habit statistics</a:t>
            </a:r>
            <a:endParaRPr lang="en-US" sz="1100"/>
          </a:p>
        </p:txBody>
      </p:sp>
      <p:sp>
        <p:nvSpPr>
          <p:cNvPr name="AutoShape 25" id="25"/>
          <p:cNvSpPr/>
          <p:nvPr/>
        </p:nvSpPr>
        <p:spPr>
          <a:xfrm rot="0" flipH="false" flipV="false">
            <a:off x="1016000" y="5397500"/>
            <a:ext cx="2349500" cy="762000"/>
          </a:xfrm>
          <a:prstGeom prst="roundRect">
            <a:avLst>
              <a:gd name="adj" fmla="val 13333"/>
            </a:avLst>
          </a:prstGeom>
          <a:solidFill>
            <a:srgbClr val="E8F8F5">
              <a:alpha val="100000"/>
            </a:srgbClr>
          </a:solidFill>
          <a:ln w="12700" cmpd="sng" cap="flat">
            <a:solidFill>
              <a:srgbClr val="1ABC9C">
                <a:alpha val="40000"/>
              </a:srgbClr>
            </a:solidFill>
            <a:prstDash val="solid"/>
            <a:round/>
          </a:ln>
        </p:spPr>
        <p:txBody>
          <a:bodyPr anchor="ctr" rtlCol="false" vert="horz" wrap="square" lIns="63500" rIns="63500" tIns="63500" bIns="63500"/>
          <a:lstStyle/>
          <a:p>
            <a:pPr algn="ctr">
              <a:defRPr/>
            </a:pPr>
            <a:endParaRPr/>
          </a:p>
        </p:txBody>
      </p:sp>
      <p:pic>
        <p:nvPicPr>
          <p:cNvPr name="Picture 26" id="26"/>
          <p:cNvPicPr>
            <a:picLocks noChangeAspect="true"/>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0" flipH="false" flipV="false">
            <a:off x="1143000" y="5562600"/>
            <a:ext cx="406400" cy="406400"/>
          </a:xfrm>
          <a:prstGeom prst="rect">
            <a:avLst/>
          </a:prstGeom>
        </p:spPr>
      </p:pic>
      <p:sp>
        <p:nvSpPr>
          <p:cNvPr name="AutoShape 27" id="27"/>
          <p:cNvSpPr/>
          <p:nvPr/>
        </p:nvSpPr>
        <p:spPr>
          <a:xfrm rot="0" flipH="false" flipV="false">
            <a:off x="1651000" y="5461000"/>
            <a:ext cx="1651000" cy="635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200">
                <a:solidFill>
                  <a:srgbClr val="333333"/>
                </a:solidFill>
                <a:latin typeface="Poppins"/>
                <a:ea typeface="Poppins"/>
                <a:cs typeface="Poppins"/>
                <a:sym typeface="Poppins"/>
              </a:rPr>
              <a:t>JSON Format</a:t>
            </a:r>
            <a:r>
              <a:rPr lang="en-US" b="false" i="false" strike="noStrike" u="none" sz="1600">
                <a:solidFill>
                  <a:srgbClr val="1F2329"/>
                </a:solidFill>
                <a:latin typeface="Noto Sans SC"/>
                <a:ea typeface="Noto Sans SC"/>
                <a:cs typeface="Noto Sans SC"/>
                <a:sym typeface="Noto Sans SC"/>
              </a:rPr>
              <a:t/>
            </a:r>
            <a:endParaRPr lang="en-US" sz="1100"/>
          </a:p>
          <a:p>
            <a:pPr algn="l" indent="0">
              <a:lnSpc>
                <a:spcPct val="125000"/>
              </a:lnSpc>
            </a:pPr>
            <a:r>
              <a:rPr lang="en-US" b="false" i="false" strike="noStrike" u="none" sz="1000">
                <a:solidFill>
                  <a:srgbClr val="666666"/>
                </a:solidFill>
                <a:latin typeface="Noto Sans SC"/>
                <a:ea typeface="Noto Sans SC"/>
                <a:cs typeface="Noto Sans SC"/>
                <a:sym typeface="Noto Sans SC"/>
              </a:rPr>
              <a:t>All data exchange</a:t>
            </a:r>
          </a:p>
        </p:txBody>
      </p:sp>
      <p:sp>
        <p:nvSpPr>
          <p:cNvPr name="AutoShape 28" id="28"/>
          <p:cNvSpPr/>
          <p:nvPr/>
        </p:nvSpPr>
        <p:spPr>
          <a:xfrm rot="0" flipH="false" flipV="false">
            <a:off x="3492500" y="5397500"/>
            <a:ext cx="2349500" cy="762000"/>
          </a:xfrm>
          <a:prstGeom prst="roundRect">
            <a:avLst>
              <a:gd name="adj" fmla="val 13333"/>
            </a:avLst>
          </a:prstGeom>
          <a:solidFill>
            <a:srgbClr val="E8F8F5">
              <a:alpha val="100000"/>
            </a:srgbClr>
          </a:solidFill>
          <a:ln w="12700" cmpd="sng" cap="flat">
            <a:solidFill>
              <a:srgbClr val="1ABC9C">
                <a:alpha val="40000"/>
              </a:srgbClr>
            </a:solidFill>
            <a:prstDash val="solid"/>
            <a:round/>
          </a:ln>
        </p:spPr>
        <p:txBody>
          <a:bodyPr anchor="ctr" rtlCol="false" vert="horz" wrap="square" lIns="63500" rIns="63500" tIns="63500" bIns="63500"/>
          <a:lstStyle/>
          <a:p>
            <a:pPr algn="ctr">
              <a:defRPr/>
            </a:pPr>
            <a:endParaRPr/>
          </a:p>
        </p:txBody>
      </p:sp>
      <p:pic>
        <p:nvPicPr>
          <p:cNvPr name="Picture 29" id="29"/>
          <p:cNvPicPr>
            <a:picLocks noChangeAspect="true"/>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0" flipH="false" flipV="false">
            <a:off x="3619500" y="5562600"/>
            <a:ext cx="406400" cy="406400"/>
          </a:xfrm>
          <a:prstGeom prst="rect">
            <a:avLst/>
          </a:prstGeom>
        </p:spPr>
      </p:pic>
      <p:sp>
        <p:nvSpPr>
          <p:cNvPr name="AutoShape 30" id="30"/>
          <p:cNvSpPr/>
          <p:nvPr/>
        </p:nvSpPr>
        <p:spPr>
          <a:xfrm rot="0" flipH="false" flipV="false">
            <a:off x="4127500" y="5461000"/>
            <a:ext cx="1651000" cy="635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200">
                <a:solidFill>
                  <a:srgbClr val="333333"/>
                </a:solidFill>
                <a:latin typeface="Poppins"/>
                <a:ea typeface="Poppins"/>
                <a:cs typeface="Poppins"/>
                <a:sym typeface="Poppins"/>
              </a:rPr>
              <a:t>HTTP Status</a:t>
            </a:r>
            <a:r>
              <a:rPr lang="en-US" b="false" i="false" strike="noStrike" u="none" sz="1600">
                <a:solidFill>
                  <a:srgbClr val="1F2329"/>
                </a:solidFill>
                <a:latin typeface="Noto Sans SC"/>
                <a:ea typeface="Noto Sans SC"/>
                <a:cs typeface="Noto Sans SC"/>
                <a:sym typeface="Noto Sans SC"/>
              </a:rPr>
              <a:t/>
            </a:r>
            <a:endParaRPr lang="en-US" sz="1100"/>
          </a:p>
          <a:p>
            <a:pPr algn="l" indent="0">
              <a:lnSpc>
                <a:spcPct val="125000"/>
              </a:lnSpc>
            </a:pPr>
            <a:r>
              <a:rPr lang="en-US" b="false" i="false" strike="noStrike" u="none" sz="1000">
                <a:solidFill>
                  <a:srgbClr val="666666"/>
                </a:solidFill>
                <a:latin typeface="Noto Sans SC"/>
                <a:ea typeface="Noto Sans SC"/>
                <a:cs typeface="Noto Sans SC"/>
                <a:sym typeface="Noto Sans SC"/>
              </a:rPr>
              <a:t>200, 201, 404, etc.</a:t>
            </a:r>
          </a:p>
        </p:txBody>
      </p:sp>
      <p:sp>
        <p:nvSpPr>
          <p:cNvPr name="AutoShape 31" id="31"/>
          <p:cNvSpPr/>
          <p:nvPr/>
        </p:nvSpPr>
        <p:spPr>
          <a:xfrm rot="0" flipH="false" flipV="false">
            <a:off x="6350000" y="1397000"/>
            <a:ext cx="5080000" cy="4953000"/>
          </a:xfrm>
          <a:prstGeom prst="roundRect">
            <a:avLst>
              <a:gd name="adj" fmla="val 4102"/>
            </a:avLst>
          </a:prstGeom>
          <a:solidFill>
            <a:srgbClr val="FFFFFF">
              <a:alpha val="95000"/>
            </a:srgbClr>
          </a:solidFill>
          <a:ln w="25400" cmpd="sng" cap="flat">
            <a:noFill/>
            <a:prstDash val="solid"/>
            <a:round/>
          </a:ln>
          <a:effectLst>
            <a:outerShdw dir="2700000" dist="50800" blurRad="2032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32" id="32"/>
          <p:cNvSpPr/>
          <p:nvPr/>
        </p:nvSpPr>
        <p:spPr>
          <a:xfrm rot="0" flipH="false" flipV="false">
            <a:off x="6604000" y="1651000"/>
            <a:ext cx="4572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333333"/>
                </a:solidFill>
                <a:latin typeface="Poppins"/>
                <a:ea typeface="Poppins"/>
                <a:cs typeface="Poppins"/>
                <a:sym typeface="Poppins"/>
              </a:rPr>
              <a:t>Interactive API Doc Preview</a:t>
            </a:r>
            <a:endParaRPr lang="en-US" sz="1100"/>
          </a:p>
        </p:txBody>
      </p:sp>
      <p:sp>
        <p:nvSpPr>
          <p:cNvPr name="AutoShape 33" id="33"/>
          <p:cNvSpPr/>
          <p:nvPr/>
        </p:nvSpPr>
        <p:spPr>
          <a:xfrm rot="0" flipH="false" flipV="false">
            <a:off x="6604000" y="2159000"/>
            <a:ext cx="4572000" cy="3429000"/>
          </a:xfrm>
          <a:prstGeom prst="roundRect">
            <a:avLst>
              <a:gd name="adj" fmla="val 2962"/>
            </a:avLst>
          </a:prstGeom>
          <a:solidFill>
            <a:srgbClr val="F0F0F0">
              <a:alpha val="100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34" id="34"/>
          <p:cNvPicPr>
            <a:picLocks noChangeAspect="true"/>
          </p:cNvPicPr>
          <p:nvPr/>
        </p:nvPicPr>
        <p:blipFill>
          <a:blip r:embed="rId7"/>
          <a:srcRect l="4472" r="4472" t="0" b="0"/>
          <a:stretch>
            <a:fillRect/>
          </a:stretch>
        </p:blipFill>
        <p:spPr>
          <a:xfrm rot="0" flipH="false" flipV="false">
            <a:off x="6766898" y="2299198"/>
            <a:ext cx="4282102" cy="3148605"/>
          </a:xfrm>
          <a:prstGeom prst="roundRect">
            <a:avLst>
              <a:gd name="adj" fmla="val 2420"/>
            </a:avLst>
          </a:prstGeom>
          <a:noFill/>
          <a:ln w="25400" cmpd="sng" cap="flat">
            <a:noFill/>
            <a:prstDash val="solid"/>
            <a:round/>
          </a:ln>
          <a:effectLst>
            <a:outerShdw dir="2700000" dist="25400" blurRad="101600" algn="tl" rotWithShape="false">
              <a:srgbClr val="000000">
                <a:alpha val="15000"/>
              </a:srgbClr>
            </a:outerShdw>
          </a:effectLst>
        </p:spPr>
      </p:pic>
      <p:sp>
        <p:nvSpPr>
          <p:cNvPr name="AutoShape 35" id="35"/>
          <p:cNvSpPr/>
          <p:nvPr/>
        </p:nvSpPr>
        <p:spPr>
          <a:xfrm rot="0" flipH="false" flipV="false">
            <a:off x="6604000" y="5715000"/>
            <a:ext cx="4572000" cy="381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false" i="false" strike="noStrike" u="none" sz="1200">
                <a:solidFill>
                  <a:srgbClr val="808080"/>
                </a:solidFill>
                <a:latin typeface="Noto Sans SC"/>
                <a:ea typeface="Noto Sans SC"/>
                <a:cs typeface="Noto Sans SC"/>
                <a:sym typeface="Noto Sans SC"/>
              </a:rPr>
              <a:t>Live documentation view powered by Swagger UI</a:t>
            </a:r>
            <a:endParaRPr lang="en-US" sz="1100"/>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6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333333"/>
                </a:solidFill>
                <a:latin typeface="Poppins"/>
                <a:ea typeface="Poppins"/>
                <a:cs typeface="Poppins"/>
                <a:sym typeface="Poppins"/>
              </a:rPr>
              <a:t>Data Management &amp; Robustness</a:t>
            </a:r>
            <a:endParaRPr lang="en-US" sz="1100"/>
          </a:p>
        </p:txBody>
      </p:sp>
      <p:pic>
        <p:nvPicPr>
          <p:cNvPr name="Picture 4" id="4"/>
          <p:cNvPicPr>
            <a:picLocks noChangeAspect="true"/>
          </p:cNvPicPr>
          <p:nvPr/>
        </p:nvPicPr>
        <p:blipFill>
          <a:blip r:embed="rId3"/>
          <a:srcRect l="6853" r="6853" t="0" b="0"/>
          <a:stretch>
            <a:fillRect/>
          </a:stretch>
        </p:blipFill>
        <p:spPr>
          <a:xfrm rot="0" flipH="false" flipV="false">
            <a:off x="762000" y="1651000"/>
            <a:ext cx="4318000" cy="4699000"/>
          </a:xfrm>
          <a:prstGeom prst="roundRect">
            <a:avLst>
              <a:gd name="adj" fmla="val 4705"/>
            </a:avLst>
          </a:prstGeom>
          <a:noFill/>
          <a:ln w="25400" cmpd="sng" cap="flat">
            <a:noFill/>
            <a:prstDash val="solid"/>
            <a:round/>
          </a:ln>
          <a:effectLst>
            <a:outerShdw dir="2700000" dist="76200" blurRad="254000" algn="tl" rotWithShape="false">
              <a:srgbClr val="000000">
                <a:alpha val="12000"/>
              </a:srgbClr>
            </a:outerShdw>
          </a:effectLst>
        </p:spPr>
      </p:pic>
      <p:sp>
        <p:nvSpPr>
          <p:cNvPr name="AutoShape 5" id="5"/>
          <p:cNvSpPr/>
          <p:nvPr/>
        </p:nvSpPr>
        <p:spPr>
          <a:xfrm rot="0" flipH="false" flipV="false">
            <a:off x="5334000" y="1651000"/>
            <a:ext cx="6096000" cy="1397000"/>
          </a:xfrm>
          <a:prstGeom prst="roundRect">
            <a:avLst>
              <a:gd name="adj" fmla="val 10909"/>
            </a:avLst>
          </a:prstGeom>
          <a:solidFill>
            <a:srgbClr val="FFFFFF">
              <a:alpha val="95000"/>
            </a:srgbClr>
          </a:solidFill>
          <a:ln w="25400" cmpd="sng" cap="flat">
            <a:noFill/>
            <a:prstDash val="solid"/>
            <a:round/>
          </a:ln>
          <a:effectLst>
            <a:outerShdw dir="2700000" dist="50800" blurRad="2032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6" id="6"/>
          <p:cNvSpPr/>
          <p:nvPr/>
        </p:nvSpPr>
        <p:spPr>
          <a:xfrm rot="0" flipH="false" flipV="false">
            <a:off x="5524500" y="1968500"/>
            <a:ext cx="762000" cy="762000"/>
          </a:xfrm>
          <a:prstGeom prst="ellipse">
            <a:avLst/>
          </a:prstGeom>
          <a:solidFill>
            <a:srgbClr val="1ABC9C">
              <a:alpha val="12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7" id="7"/>
          <p:cNvPicPr>
            <a:picLocks noChangeAspect="true"/>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0" flipH="false" flipV="false">
            <a:off x="5715000" y="2159000"/>
            <a:ext cx="381000" cy="381000"/>
          </a:xfrm>
          <a:prstGeom prst="rect">
            <a:avLst/>
          </a:prstGeom>
        </p:spPr>
      </p:pic>
      <p:sp>
        <p:nvSpPr>
          <p:cNvPr name="AutoShape 8" id="8"/>
          <p:cNvSpPr/>
          <p:nvPr/>
        </p:nvSpPr>
        <p:spPr>
          <a:xfrm rot="0" flipH="false" flipV="false">
            <a:off x="6477000" y="1841500"/>
            <a:ext cx="4699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Database Configuration</a:t>
            </a:r>
            <a:endParaRPr lang="en-US" sz="1100"/>
          </a:p>
        </p:txBody>
      </p:sp>
      <p:sp>
        <p:nvSpPr>
          <p:cNvPr name="AutoShape 9" id="9"/>
          <p:cNvSpPr/>
          <p:nvPr/>
        </p:nvSpPr>
        <p:spPr>
          <a:xfrm rot="0" flipH="false" flipV="false">
            <a:off x="6477000" y="2286000"/>
            <a:ext cx="4699000" cy="635000"/>
          </a:xfrm>
          <a:prstGeom prst="rect">
            <a:avLst/>
          </a:prstGeom>
          <a:noFill/>
          <a:ln w="12700" cmpd="sng" cap="flat">
            <a:noFill/>
            <a:prstDash val="solid"/>
            <a:round/>
          </a:ln>
        </p:spPr>
        <p:txBody>
          <a:bodyPr anchor="t" rtlCol="false" anchorCtr="false" vert="horz" wrap="square" lIns="0" rIns="0" tIns="0" bIns="0"/>
          <a:lstStyle/>
          <a:p>
            <a:pPr algn="l" indent="0">
              <a:lnSpc>
                <a:spcPct val="108333"/>
              </a:lnSpc>
              <a:defRPr/>
            </a:pPr>
            <a:r>
              <a:rPr lang="en-US" b="false" i="false" strike="noStrike" u="none" sz="1200">
                <a:solidFill>
                  <a:srgbClr val="555555"/>
                </a:solidFill>
                <a:latin typeface="Poppins"/>
                <a:ea typeface="Poppins"/>
                <a:cs typeface="Poppins"/>
                <a:sym typeface="Poppins"/>
              </a:rPr>
              <a:t>Utilizes H2 (in-memory) for rapid testing cycles and Spring Data JPA to eliminate repetitive JDBC boilerplate code, streamlining all CRUD operations.</a:t>
            </a:r>
            <a:endParaRPr lang="en-US" sz="1100"/>
          </a:p>
        </p:txBody>
      </p:sp>
      <p:sp>
        <p:nvSpPr>
          <p:cNvPr name="AutoShape 10" id="10"/>
          <p:cNvSpPr/>
          <p:nvPr/>
        </p:nvSpPr>
        <p:spPr>
          <a:xfrm rot="0" flipH="false" flipV="false">
            <a:off x="5334000" y="3302000"/>
            <a:ext cx="6096000" cy="1397000"/>
          </a:xfrm>
          <a:prstGeom prst="roundRect">
            <a:avLst>
              <a:gd name="adj" fmla="val 10909"/>
            </a:avLst>
          </a:prstGeom>
          <a:solidFill>
            <a:srgbClr val="FFFFFF">
              <a:alpha val="95000"/>
            </a:srgbClr>
          </a:solidFill>
          <a:ln w="25400" cmpd="sng" cap="flat">
            <a:noFill/>
            <a:prstDash val="solid"/>
            <a:round/>
          </a:ln>
          <a:effectLst>
            <a:outerShdw dir="2700000" dist="50800" blurRad="2032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5524500" y="3619500"/>
            <a:ext cx="762000" cy="762000"/>
          </a:xfrm>
          <a:prstGeom prst="ellipse">
            <a:avLst/>
          </a:prstGeom>
          <a:solidFill>
            <a:srgbClr val="1ABC9C">
              <a:alpha val="12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12" id="12"/>
          <p:cNvPicPr>
            <a:picLocks noChangeAspect="true"/>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rot="0" flipH="false" flipV="false">
            <a:off x="5715000" y="3810000"/>
            <a:ext cx="381000" cy="381000"/>
          </a:xfrm>
          <a:prstGeom prst="rect">
            <a:avLst/>
          </a:prstGeom>
        </p:spPr>
      </p:pic>
      <p:sp>
        <p:nvSpPr>
          <p:cNvPr name="AutoShape 13" id="13"/>
          <p:cNvSpPr/>
          <p:nvPr/>
        </p:nvSpPr>
        <p:spPr>
          <a:xfrm rot="0" flipH="false" flipV="false">
            <a:off x="6477000" y="3492500"/>
            <a:ext cx="4699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Data Validation</a:t>
            </a:r>
            <a:endParaRPr lang="en-US" sz="1100"/>
          </a:p>
        </p:txBody>
      </p:sp>
      <p:sp>
        <p:nvSpPr>
          <p:cNvPr name="AutoShape 14" id="14"/>
          <p:cNvSpPr/>
          <p:nvPr/>
        </p:nvSpPr>
        <p:spPr>
          <a:xfrm rot="0" flipH="false" flipV="false">
            <a:off x="6477000" y="3937000"/>
            <a:ext cx="4699000" cy="635000"/>
          </a:xfrm>
          <a:prstGeom prst="rect">
            <a:avLst/>
          </a:prstGeom>
          <a:noFill/>
          <a:ln w="12700" cmpd="sng" cap="flat">
            <a:noFill/>
            <a:prstDash val="solid"/>
            <a:round/>
          </a:ln>
        </p:spPr>
        <p:txBody>
          <a:bodyPr anchor="t" rtlCol="false" anchorCtr="false" vert="horz" wrap="square" lIns="0" rIns="0" tIns="0" bIns="0"/>
          <a:lstStyle/>
          <a:p>
            <a:pPr algn="l" indent="0">
              <a:lnSpc>
                <a:spcPct val="108333"/>
              </a:lnSpc>
              <a:defRPr/>
            </a:pPr>
            <a:r>
              <a:rPr lang="en-US" b="false" i="false" strike="noStrike" u="none" sz="1200">
                <a:solidFill>
                  <a:srgbClr val="555555"/>
                </a:solidFill>
                <a:latin typeface="Poppins"/>
                <a:ea typeface="Poppins"/>
                <a:cs typeface="Poppins"/>
                <a:sym typeface="Poppins"/>
              </a:rPr>
              <a:t>Integrated Jakarta Validation (Bean Validation) enforces strict data integrity rules (e.g., @NotBlank, @Min) to ensure all incoming API payloads meet business criteria.</a:t>
            </a:r>
            <a:endParaRPr lang="en-US" sz="1100"/>
          </a:p>
        </p:txBody>
      </p:sp>
      <p:sp>
        <p:nvSpPr>
          <p:cNvPr name="AutoShape 15" id="15"/>
          <p:cNvSpPr/>
          <p:nvPr/>
        </p:nvSpPr>
        <p:spPr>
          <a:xfrm rot="0" flipH="false" flipV="false">
            <a:off x="5334000" y="4953000"/>
            <a:ext cx="6096000" cy="1397000"/>
          </a:xfrm>
          <a:prstGeom prst="roundRect">
            <a:avLst>
              <a:gd name="adj" fmla="val 10909"/>
            </a:avLst>
          </a:prstGeom>
          <a:solidFill>
            <a:srgbClr val="FFFFFF">
              <a:alpha val="95000"/>
            </a:srgbClr>
          </a:solidFill>
          <a:ln w="25400" cmpd="sng" cap="flat">
            <a:noFill/>
            <a:prstDash val="solid"/>
            <a:round/>
          </a:ln>
          <a:effectLst>
            <a:outerShdw dir="2700000" dist="50800" blurRad="2032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5524500" y="5270500"/>
            <a:ext cx="762000" cy="762000"/>
          </a:xfrm>
          <a:prstGeom prst="ellipse">
            <a:avLst/>
          </a:prstGeom>
          <a:solidFill>
            <a:srgbClr val="1ABC9C">
              <a:alpha val="12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17" id="17"/>
          <p:cNvPicPr>
            <a:picLocks noChangeAspect="true"/>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0" flipH="false" flipV="false">
            <a:off x="5715000" y="5461000"/>
            <a:ext cx="381000" cy="381000"/>
          </a:xfrm>
          <a:prstGeom prst="rect">
            <a:avLst/>
          </a:prstGeom>
        </p:spPr>
      </p:pic>
      <p:sp>
        <p:nvSpPr>
          <p:cNvPr name="AutoShape 18" id="18"/>
          <p:cNvSpPr/>
          <p:nvPr/>
        </p:nvSpPr>
        <p:spPr>
          <a:xfrm rot="0" flipH="false" flipV="false">
            <a:off x="6477000" y="5143500"/>
            <a:ext cx="4699000" cy="3556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Global Exception Handling</a:t>
            </a:r>
            <a:endParaRPr lang="en-US" sz="1100"/>
          </a:p>
        </p:txBody>
      </p:sp>
      <p:sp>
        <p:nvSpPr>
          <p:cNvPr name="AutoShape 19" id="19"/>
          <p:cNvSpPr/>
          <p:nvPr/>
        </p:nvSpPr>
        <p:spPr>
          <a:xfrm rot="0" flipH="false" flipV="false">
            <a:off x="6477000" y="5588000"/>
            <a:ext cx="4699000" cy="635000"/>
          </a:xfrm>
          <a:prstGeom prst="rect">
            <a:avLst/>
          </a:prstGeom>
          <a:noFill/>
          <a:ln w="12700" cmpd="sng" cap="flat">
            <a:noFill/>
            <a:prstDash val="solid"/>
            <a:round/>
          </a:ln>
        </p:spPr>
        <p:txBody>
          <a:bodyPr anchor="t" rtlCol="false" anchorCtr="false" vert="horz" wrap="square" lIns="0" rIns="0" tIns="0" bIns="0"/>
          <a:lstStyle/>
          <a:p>
            <a:pPr algn="l" indent="0">
              <a:lnSpc>
                <a:spcPct val="108333"/>
              </a:lnSpc>
              <a:defRPr/>
            </a:pPr>
            <a:r>
              <a:rPr lang="en-US" b="false" i="false" strike="noStrike" u="none" sz="1200">
                <a:solidFill>
                  <a:srgbClr val="555555"/>
                </a:solidFill>
                <a:latin typeface="Poppins"/>
                <a:ea typeface="Poppins"/>
                <a:cs typeface="Poppins"/>
                <a:sym typeface="Poppins"/>
              </a:rPr>
              <a:t>A centralized @RestControllerAdvice catches all exceptions, providing consistent, well-structured JSON error responses to improve API usability for consumers.</a:t>
            </a:r>
            <a:endParaRPr lang="en-US" sz="1100"/>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7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333333"/>
                </a:solidFill>
                <a:latin typeface="Poppins"/>
                <a:ea typeface="Poppins"/>
                <a:cs typeface="Poppins"/>
                <a:sym typeface="Poppins"/>
              </a:rPr>
              <a:t>Quality Assurance &amp; Maintainability</a:t>
            </a:r>
            <a:endParaRPr lang="en-US" sz="1100"/>
          </a:p>
        </p:txBody>
      </p:sp>
      <p:sp>
        <p:nvSpPr>
          <p:cNvPr name="AutoShape 4" id="4"/>
          <p:cNvSpPr/>
          <p:nvPr/>
        </p:nvSpPr>
        <p:spPr>
          <a:xfrm rot="0" flipH="false" flipV="false">
            <a:off x="762000" y="1524000"/>
            <a:ext cx="5080000" cy="2159000"/>
          </a:xfrm>
          <a:prstGeom prst="roundRect">
            <a:avLst>
              <a:gd name="adj" fmla="val 7058"/>
            </a:avLst>
          </a:prstGeom>
          <a:solidFill>
            <a:srgbClr val="FFFFFF">
              <a:alpha val="100000"/>
            </a:srgbClr>
          </a:solidFill>
          <a:ln w="25400" cmpd="sng" cap="flat">
            <a:noFill/>
            <a:prstDash val="solid"/>
            <a:round/>
          </a:ln>
          <a:effectLst>
            <a:outerShdw dir="5400000" dist="50800" blurRad="1905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080000" cy="76200"/>
          </a:xfrm>
          <a:prstGeom prst="roundRect">
            <a:avLst>
              <a:gd name="adj" fmla="val 0"/>
            </a:avLst>
          </a:prstGeom>
          <a:solidFill>
            <a:srgbClr val="1ABC9C">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016000" y="1841500"/>
            <a:ext cx="4572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API Documentation (Swagger UI)</a:t>
            </a:r>
            <a:endParaRPr lang="en-US" sz="1100"/>
          </a:p>
        </p:txBody>
      </p:sp>
      <p:sp>
        <p:nvSpPr>
          <p:cNvPr name="AutoShape 7" id="7"/>
          <p:cNvSpPr/>
          <p:nvPr/>
        </p:nvSpPr>
        <p:spPr>
          <a:xfrm rot="0" flipH="false" flipV="false">
            <a:off x="1016000" y="2413000"/>
            <a:ext cx="4572000" cy="1016000"/>
          </a:xfrm>
          <a:prstGeom prst="rect">
            <a:avLst/>
          </a:prstGeom>
          <a:noFill/>
          <a:ln w="12700" cmpd="sng" cap="flat">
            <a:noFill/>
            <a:prstDash val="solid"/>
            <a:round/>
          </a:ln>
        </p:spPr>
        <p:txBody>
          <a:bodyPr anchor="ctr" rtlCol="false" anchorCtr="false" vert="horz" wrap="square" lIns="0" rIns="0" tIns="0" bIns="0"/>
          <a:lstStyle/>
          <a:p>
            <a:pPr algn="l" indent="0">
              <a:lnSpc>
                <a:spcPct val="116666"/>
              </a:lnSpc>
              <a:defRPr/>
            </a:pPr>
            <a:r>
              <a:rPr lang="en-US" b="true" i="false" strike="noStrike" u="none" sz="1200">
                <a:solidFill>
                  <a:srgbClr val="555555"/>
                </a:solidFill>
                <a:latin typeface="Poppins"/>
                <a:ea typeface="Poppins"/>
                <a:cs typeface="Poppins"/>
                <a:sym typeface="Poppins"/>
              </a:rPr>
              <a:t>Springdoc-OpenAPI:</a:t>
            </a:r>
            <a:r>
              <a:rPr lang="en-US" b="false" i="false" strike="noStrike" u="none" sz="1200">
                <a:solidFill>
                  <a:srgbClr val="555555"/>
                </a:solidFill>
                <a:latin typeface="Poppins"/>
                <a:ea typeface="Poppins"/>
                <a:cs typeface="Poppins"/>
                <a:sym typeface="Poppins"/>
              </a:rPr>
              <a:t>Auto-generates interactive docs from code annotations.</a:t>
            </a:r>
            <a:r>
              <a:rPr lang="en-US" b="false" i="false" strike="noStrike" u="none" sz="1200">
                <a:solidFill>
                  <a:srgbClr val="555555"/>
                </a:solidFill>
                <a:latin typeface="Poppins"/>
                <a:ea typeface="Poppins"/>
                <a:cs typeface="Poppins"/>
                <a:sym typeface="Poppins"/>
              </a:rPr>
              <a:t/>
            </a:r>
            <a:endParaRPr lang="en-US" sz="1100"/>
          </a:p>
          <a:p>
            <a:pPr algn="l" indent="0">
              <a:lnSpc>
                <a:spcPct val="116666"/>
              </a:lnSpc>
            </a:pPr>
            <a:r>
              <a:rPr lang="en-US" b="true" i="false" strike="noStrike" u="none" sz="1200">
                <a:solidFill>
                  <a:srgbClr val="555555"/>
                </a:solidFill>
                <a:latin typeface="Poppins"/>
                <a:ea typeface="Poppins"/>
                <a:cs typeface="Poppins"/>
                <a:sym typeface="Poppins"/>
              </a:rPr>
              <a:t>Benefit:</a:t>
            </a:r>
            <a:r>
              <a:rPr lang="en-US" b="false" i="false" strike="noStrike" u="none" sz="1200">
                <a:solidFill>
                  <a:srgbClr val="555555"/>
                </a:solidFill>
                <a:latin typeface="Poppins"/>
                <a:ea typeface="Poppins"/>
                <a:cs typeface="Poppins"/>
                <a:sym typeface="Poppins"/>
              </a:rPr>
              <a:t>Provides a live interface for developers to explore, test, and understand API endpoints visually.</a:t>
            </a:r>
          </a:p>
        </p:txBody>
      </p:sp>
      <p:sp>
        <p:nvSpPr>
          <p:cNvPr name="AutoShape 8" id="8"/>
          <p:cNvSpPr/>
          <p:nvPr/>
        </p:nvSpPr>
        <p:spPr>
          <a:xfrm rot="0" flipH="false" flipV="false">
            <a:off x="762000" y="3937000"/>
            <a:ext cx="5080000" cy="1905000"/>
          </a:xfrm>
          <a:prstGeom prst="roundRect">
            <a:avLst>
              <a:gd name="adj" fmla="val 8000"/>
            </a:avLst>
          </a:prstGeom>
          <a:solidFill>
            <a:srgbClr val="FFFFFF">
              <a:alpha val="100000"/>
            </a:srgbClr>
          </a:solidFill>
          <a:ln w="25400" cmpd="sng" cap="flat">
            <a:noFill/>
            <a:prstDash val="solid"/>
            <a:round/>
          </a:ln>
          <a:effectLst>
            <a:outerShdw dir="5400000" dist="50800" blurRad="1905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9" id="9"/>
          <p:cNvSpPr/>
          <p:nvPr/>
        </p:nvSpPr>
        <p:spPr>
          <a:xfrm rot="0" flipH="false" flipV="false">
            <a:off x="762000" y="3937000"/>
            <a:ext cx="5080000" cy="76200"/>
          </a:xfrm>
          <a:prstGeom prst="roundRect">
            <a:avLst>
              <a:gd name="adj" fmla="val 0"/>
            </a:avLst>
          </a:prstGeom>
          <a:solidFill>
            <a:srgbClr val="1ABC9C">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1016000" y="4254500"/>
            <a:ext cx="4572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Sample Data Initialization</a:t>
            </a:r>
            <a:endParaRPr lang="en-US" sz="1100"/>
          </a:p>
        </p:txBody>
      </p:sp>
      <p:sp>
        <p:nvSpPr>
          <p:cNvPr name="AutoShape 11" id="11"/>
          <p:cNvSpPr/>
          <p:nvPr/>
        </p:nvSpPr>
        <p:spPr>
          <a:xfrm rot="0" flipH="false" flipV="false">
            <a:off x="1016000" y="4826000"/>
            <a:ext cx="4572000" cy="889000"/>
          </a:xfrm>
          <a:prstGeom prst="rect">
            <a:avLst/>
          </a:prstGeom>
          <a:noFill/>
          <a:ln w="12700" cmpd="sng" cap="flat">
            <a:noFill/>
            <a:prstDash val="solid"/>
            <a:round/>
          </a:ln>
        </p:spPr>
        <p:txBody>
          <a:bodyPr anchor="ctr" rtlCol="false" anchorCtr="false" vert="horz" wrap="square" lIns="0" rIns="0" tIns="0" bIns="0"/>
          <a:lstStyle/>
          <a:p>
            <a:pPr algn="l" indent="0">
              <a:lnSpc>
                <a:spcPct val="116666"/>
              </a:lnSpc>
              <a:defRPr/>
            </a:pPr>
            <a:r>
              <a:rPr lang="en-US" b="false" i="false" strike="noStrike" u="none" sz="1200">
                <a:solidFill>
                  <a:srgbClr val="555555"/>
                </a:solidFill>
                <a:latin typeface="Poppins"/>
                <a:ea typeface="Poppins"/>
                <a:cs typeface="Poppins"/>
                <a:sym typeface="Poppins"/>
              </a:rPr>
              <a:t>A</a:t>
            </a:r>
            <a:r>
              <a:rPr lang="en-US" b="true" i="false" strike="noStrike" u="none" sz="1200">
                <a:solidFill>
                  <a:srgbClr val="555555"/>
                </a:solidFill>
                <a:latin typeface="Poppins"/>
                <a:ea typeface="Poppins"/>
                <a:cs typeface="Poppins"/>
                <a:sym typeface="Poppins"/>
              </a:rPr>
              <a:t>CommandLineRunner</a:t>
            </a:r>
            <a:r>
              <a:rPr lang="en-US" b="false" i="false" strike="noStrike" u="none" sz="1200">
                <a:solidFill>
                  <a:srgbClr val="555555"/>
                </a:solidFill>
                <a:latin typeface="Poppins"/>
                <a:ea typeface="Poppins"/>
                <a:cs typeface="Poppins"/>
                <a:sym typeface="Poppins"/>
              </a:rPr>
              <a:t>bean loads predefined test data into the H2 in-memory database on startup, enabling immediate functional testing without manual setup.</a:t>
            </a:r>
            <a:endParaRPr lang="en-US" sz="1100"/>
          </a:p>
        </p:txBody>
      </p:sp>
      <p:sp>
        <p:nvSpPr>
          <p:cNvPr name="AutoShape 12" id="12"/>
          <p:cNvSpPr/>
          <p:nvPr/>
        </p:nvSpPr>
        <p:spPr>
          <a:xfrm rot="0" flipH="false" flipV="false">
            <a:off x="6096000" y="1524000"/>
            <a:ext cx="5207000" cy="4826000"/>
          </a:xfrm>
          <a:prstGeom prst="roundRect">
            <a:avLst>
              <a:gd name="adj" fmla="val 3157"/>
            </a:avLst>
          </a:prstGeom>
          <a:solidFill>
            <a:srgbClr val="FFFFFF">
              <a:alpha val="100000"/>
            </a:srgbClr>
          </a:solidFill>
          <a:ln w="25400" cmpd="sng" cap="flat">
            <a:noFill/>
            <a:prstDash val="solid"/>
            <a:round/>
          </a:ln>
          <a:effectLst>
            <a:outerShdw dir="5400000" dist="50800" blurRad="190500" algn="tl" rotWithShape="false">
              <a:srgbClr val="000000">
                <a:alpha val="8000"/>
              </a:srgbClr>
            </a:outerShdw>
          </a:effectLst>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6096000" y="1524000"/>
            <a:ext cx="5207000" cy="76200"/>
          </a:xfrm>
          <a:prstGeom prst="roundRect">
            <a:avLst>
              <a:gd name="adj" fmla="val 0"/>
            </a:avLst>
          </a:prstGeom>
          <a:solidFill>
            <a:srgbClr val="1ABC9C">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6350000" y="1841500"/>
            <a:ext cx="4699000" cy="381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800">
                <a:solidFill>
                  <a:srgbClr val="1ABC9C"/>
                </a:solidFill>
                <a:latin typeface="Poppins"/>
                <a:ea typeface="Poppins"/>
                <a:cs typeface="Poppins"/>
                <a:sym typeface="Poppins"/>
              </a:rPr>
              <a:t>Version Control (Git)</a:t>
            </a:r>
            <a:endParaRPr lang="en-US" sz="1100"/>
          </a:p>
        </p:txBody>
      </p:sp>
      <p:sp>
        <p:nvSpPr>
          <p:cNvPr name="AutoShape 15" id="15"/>
          <p:cNvSpPr/>
          <p:nvPr/>
        </p:nvSpPr>
        <p:spPr>
          <a:xfrm rot="0" flipH="false" flipV="false">
            <a:off x="6350000" y="2413000"/>
            <a:ext cx="4699000" cy="762000"/>
          </a:xfrm>
          <a:prstGeom prst="rect">
            <a:avLst/>
          </a:prstGeom>
          <a:noFill/>
          <a:ln w="12700" cmpd="sng" cap="flat">
            <a:noFill/>
            <a:prstDash val="solid"/>
            <a:round/>
          </a:ln>
        </p:spPr>
        <p:txBody>
          <a:bodyPr anchor="ctr" rtlCol="false" anchorCtr="false" vert="horz" wrap="square" lIns="0" rIns="0" tIns="0" bIns="0"/>
          <a:lstStyle/>
          <a:p>
            <a:pPr algn="l" indent="0">
              <a:lnSpc>
                <a:spcPct val="116666"/>
              </a:lnSpc>
              <a:defRPr/>
            </a:pPr>
            <a:r>
              <a:rPr lang="en-US" b="false" i="false" strike="noStrike" u="none" sz="1200">
                <a:solidFill>
                  <a:srgbClr val="555555"/>
                </a:solidFill>
                <a:latin typeface="Poppins"/>
                <a:ea typeface="Poppins"/>
                <a:cs typeface="Poppins"/>
                <a:sym typeface="Poppins"/>
              </a:rPr>
              <a:t>Used for full lifecycle source code management, ensuring a complete, immutable history of changes and facilitating seamless team collaboration.</a:t>
            </a:r>
            <a:endParaRPr lang="en-US" sz="1100"/>
          </a:p>
        </p:txBody>
      </p:sp>
      <p:pic>
        <p:nvPicPr>
          <p:cNvPr name="Picture 16" id="16"/>
          <p:cNvPicPr>
            <a:picLocks noChangeAspect="true"/>
          </p:cNvPicPr>
          <p:nvPr/>
        </p:nvPicPr>
        <p:blipFill>
          <a:blip r:embed="rId3"/>
          <a:srcRect l="0" r="0" t="7142" b="7142"/>
          <a:stretch>
            <a:fillRect/>
          </a:stretch>
        </p:blipFill>
        <p:spPr>
          <a:xfrm rot="0" flipH="false" flipV="false">
            <a:off x="6350000" y="3429000"/>
            <a:ext cx="2222500" cy="1905000"/>
          </a:xfrm>
          <a:prstGeom prst="roundRect">
            <a:avLst>
              <a:gd name="adj" fmla="val 6666"/>
            </a:avLst>
          </a:prstGeom>
          <a:noFill/>
          <a:ln w="25400" cmpd="sng" cap="flat">
            <a:noFill/>
            <a:prstDash val="solid"/>
            <a:round/>
          </a:ln>
          <a:effectLst>
            <a:outerShdw dir="5400000" dist="25400" blurRad="101600" algn="tl" rotWithShape="false">
              <a:srgbClr val="000000">
                <a:alpha val="10000"/>
              </a:srgbClr>
            </a:outerShdw>
          </a:effectLst>
        </p:spPr>
      </p:pic>
      <p:pic>
        <p:nvPicPr>
          <p:cNvPr name="Picture 17" id="17"/>
          <p:cNvPicPr>
            <a:picLocks noChangeAspect="true"/>
          </p:cNvPicPr>
          <p:nvPr/>
        </p:nvPicPr>
        <p:blipFill>
          <a:blip r:embed="rId4"/>
          <a:srcRect l="16601" r="16601" t="0" b="0"/>
          <a:stretch>
            <a:fillRect/>
          </a:stretch>
        </p:blipFill>
        <p:spPr>
          <a:xfrm rot="0" flipH="false" flipV="false">
            <a:off x="8699500" y="3429000"/>
            <a:ext cx="2222500" cy="1905000"/>
          </a:xfrm>
          <a:prstGeom prst="roundRect">
            <a:avLst>
              <a:gd name="adj" fmla="val 6666"/>
            </a:avLst>
          </a:prstGeom>
          <a:noFill/>
          <a:ln w="25400" cmpd="sng" cap="flat">
            <a:noFill/>
            <a:prstDash val="solid"/>
            <a:round/>
          </a:ln>
          <a:effectLst>
            <a:outerShdw dir="5400000" dist="25400" blurRad="101600" algn="tl" rotWithShape="false">
              <a:srgbClr val="000000">
                <a:alpha val="10000"/>
              </a:srgbClr>
            </a:outerShdw>
          </a:effectLst>
        </p:spPr>
      </p:pic>
      <p:sp>
        <p:nvSpPr>
          <p:cNvPr name="AutoShape 18" id="18"/>
          <p:cNvSpPr/>
          <p:nvPr/>
        </p:nvSpPr>
        <p:spPr>
          <a:xfrm rot="0" flipH="false" flipV="false">
            <a:off x="6350000" y="5588000"/>
            <a:ext cx="4699000" cy="381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false" i="false" strike="noStrike" u="none" sz="1100">
                <a:solidFill>
                  <a:srgbClr val="808080"/>
                </a:solidFill>
                <a:latin typeface="Poppins"/>
                <a:ea typeface="Poppins"/>
                <a:cs typeface="Poppins"/>
                <a:sym typeface="Poppins"/>
              </a:rPr>
              <a:t>Standard Git Workflow: Pull → Commit → Push → Merge</a:t>
            </a:r>
            <a:endParaRPr lang="en-US" sz="1100"/>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000000">
              <a:alpha val="5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635000"/>
            <a:ext cx="10668000" cy="5080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3200">
                <a:solidFill>
                  <a:srgbClr val="FFFFFF"/>
                </a:solidFill>
                <a:latin typeface="Poppins"/>
                <a:ea typeface="Poppins"/>
                <a:cs typeface="Poppins"/>
                <a:sym typeface="Poppins"/>
              </a:rPr>
              <a:t>Technical Choices, Reflection, and Conclusion</a:t>
            </a:r>
            <a:endParaRPr lang="en-US" sz="1100"/>
          </a:p>
        </p:txBody>
      </p:sp>
      <p:sp>
        <p:nvSpPr>
          <p:cNvPr name="AutoShape 4" id="4"/>
          <p:cNvSpPr/>
          <p:nvPr/>
        </p:nvSpPr>
        <p:spPr>
          <a:xfrm rot="0" flipH="false" flipV="false">
            <a:off x="762000" y="1651000"/>
            <a:ext cx="3302000" cy="2921000"/>
          </a:xfrm>
          <a:prstGeom prst="roundRect">
            <a:avLst>
              <a:gd name="adj" fmla="val 5217"/>
            </a:avLst>
          </a:prstGeom>
          <a:solidFill>
            <a:srgbClr val="FFFFFF">
              <a:alpha val="8000"/>
            </a:srgbClr>
          </a:solidFill>
          <a:ln w="12700" cmpd="sng" cap="flat">
            <a:solidFill>
              <a:srgbClr val="FFFFFF">
                <a:alpha val="15000"/>
              </a:srgbClr>
            </a:solidFill>
            <a:prstDash val="solid"/>
            <a:round/>
          </a:ln>
        </p:spPr>
        <p:txBody>
          <a:bodyPr anchor="ctr" rtlCol="false" vert="horz" wrap="square" lIns="63500" rIns="63500" tIns="63500" bIns="63500"/>
          <a:lstStyle/>
          <a:p>
            <a:pPr algn="ctr">
              <a:defRPr/>
            </a:pPr>
            <a:endParaRPr/>
          </a:p>
        </p:txBody>
      </p:sp>
      <p:pic>
        <p:nvPicPr>
          <p:cNvPr name="Picture 5" id="5"/>
          <p:cNvPicPr>
            <a:picLocks noChangeAspect="true"/>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0" flipH="false" flipV="false">
            <a:off x="1016000" y="1905000"/>
            <a:ext cx="508000" cy="508000"/>
          </a:xfrm>
          <a:prstGeom prst="rect">
            <a:avLst/>
          </a:prstGeom>
        </p:spPr>
      </p:pic>
      <p:sp>
        <p:nvSpPr>
          <p:cNvPr name="AutoShape 6" id="6"/>
          <p:cNvSpPr/>
          <p:nvPr/>
        </p:nvSpPr>
        <p:spPr>
          <a:xfrm rot="0" flipH="false" flipV="false">
            <a:off x="1714500" y="1930400"/>
            <a:ext cx="2159000" cy="4445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FFFFFF"/>
                </a:solidFill>
                <a:latin typeface="Poppins"/>
                <a:ea typeface="Poppins"/>
                <a:cs typeface="Poppins"/>
                <a:sym typeface="Poppins"/>
              </a:rPr>
              <a:t>Rationale for Choices</a:t>
            </a:r>
            <a:endParaRPr lang="en-US" sz="1100"/>
          </a:p>
        </p:txBody>
      </p:sp>
      <p:sp>
        <p:nvSpPr>
          <p:cNvPr name="AutoShape 7" id="7"/>
          <p:cNvSpPr/>
          <p:nvPr/>
        </p:nvSpPr>
        <p:spPr>
          <a:xfrm rot="0" flipH="false" flipV="false">
            <a:off x="1016000" y="2667000"/>
            <a:ext cx="2794000" cy="1143000"/>
          </a:xfrm>
          <a:prstGeom prst="rect">
            <a:avLst/>
          </a:prstGeom>
          <a:noFill/>
          <a:ln w="12700" cmpd="sng" cap="flat">
            <a:noFill/>
            <a:prstDash val="solid"/>
            <a:round/>
          </a:ln>
        </p:spPr>
        <p:txBody>
          <a:bodyPr anchor="t" rtlCol="false" anchorCtr="false" vert="horz" wrap="square" lIns="0" rIns="0" tIns="0" bIns="0"/>
          <a:lstStyle/>
          <a:p>
            <a:pPr algn="l" indent="0">
              <a:lnSpc>
                <a:spcPct val="116666"/>
              </a:lnSpc>
              <a:defRPr/>
            </a:pPr>
            <a:r>
              <a:rPr lang="en-US" b="false" i="false" strike="noStrike" u="none" sz="1200">
                <a:solidFill>
                  <a:srgbClr val="E0E0E0"/>
                </a:solidFill>
                <a:latin typeface="Poppins"/>
                <a:ea typeface="Poppins"/>
                <a:cs typeface="Poppins"/>
                <a:sym typeface="Poppins"/>
              </a:rPr>
              <a:t>Selected</a:t>
            </a:r>
            <a:r>
              <a:rPr lang="en-US" b="true" i="false" strike="noStrike" u="none" sz="1200">
                <a:solidFill>
                  <a:srgbClr val="E0E0E0"/>
                </a:solidFill>
                <a:latin typeface="Poppins"/>
                <a:ea typeface="Poppins"/>
                <a:cs typeface="Poppins"/>
                <a:sym typeface="Poppins"/>
              </a:rPr>
              <a:t>Java &amp; Spring Boot</a:t>
            </a:r>
            <a:r>
              <a:rPr lang="en-US" b="false" i="false" strike="noStrike" u="none" sz="1200">
                <a:solidFill>
                  <a:srgbClr val="E0E0E0"/>
                </a:solidFill>
                <a:latin typeface="Poppins"/>
                <a:ea typeface="Poppins"/>
                <a:cs typeface="Poppins"/>
                <a:sym typeface="Poppins"/>
              </a:rPr>
              <a:t>for familiarity. The robust ecosystem enabled focus on core API design, persistence logic, and overall project structure.</a:t>
            </a:r>
            <a:endParaRPr lang="en-US" sz="1100"/>
          </a:p>
        </p:txBody>
      </p:sp>
      <p:sp>
        <p:nvSpPr>
          <p:cNvPr name="AutoShape 8" id="8"/>
          <p:cNvSpPr/>
          <p:nvPr/>
        </p:nvSpPr>
        <p:spPr>
          <a:xfrm rot="0" flipH="false" flipV="false">
            <a:off x="4445000" y="1651000"/>
            <a:ext cx="3302000" cy="2921000"/>
          </a:xfrm>
          <a:prstGeom prst="roundRect">
            <a:avLst>
              <a:gd name="adj" fmla="val 5217"/>
            </a:avLst>
          </a:prstGeom>
          <a:solidFill>
            <a:srgbClr val="FFFFFF">
              <a:alpha val="8000"/>
            </a:srgbClr>
          </a:solidFill>
          <a:ln w="12700" cmpd="sng" cap="flat">
            <a:solidFill>
              <a:srgbClr val="FFFFFF">
                <a:alpha val="15000"/>
              </a:srgbClr>
            </a:solidFill>
            <a:prstDash val="solid"/>
            <a:round/>
          </a:ln>
        </p:spPr>
        <p:txBody>
          <a:bodyPr anchor="ctr" rtlCol="false" vert="horz" wrap="square" lIns="63500" rIns="63500" tIns="63500" bIns="63500"/>
          <a:lstStyle/>
          <a:p>
            <a:pPr algn="ctr">
              <a:defRPr/>
            </a:pPr>
            <a:endParaRPr/>
          </a:p>
        </p:txBody>
      </p:sp>
      <p:pic>
        <p:nvPicPr>
          <p:cNvPr name="Picture 9" id="9"/>
          <p:cNvPicPr>
            <a:picLocks noChangeAspect="true"/>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0" flipH="false" flipV="false">
            <a:off x="4699000" y="1905000"/>
            <a:ext cx="508000" cy="508000"/>
          </a:xfrm>
          <a:prstGeom prst="rect">
            <a:avLst/>
          </a:prstGeom>
        </p:spPr>
      </p:pic>
      <p:sp>
        <p:nvSpPr>
          <p:cNvPr name="AutoShape 10" id="10"/>
          <p:cNvSpPr/>
          <p:nvPr/>
        </p:nvSpPr>
        <p:spPr>
          <a:xfrm rot="0" flipH="false" flipV="false">
            <a:off x="5397500" y="1930400"/>
            <a:ext cx="2159000" cy="4445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FFFFFF"/>
                </a:solidFill>
                <a:latin typeface="Poppins"/>
                <a:ea typeface="Poppins"/>
                <a:cs typeface="Poppins"/>
                <a:sym typeface="Poppins"/>
              </a:rPr>
              <a:t>Project Reflection</a:t>
            </a:r>
            <a:endParaRPr lang="en-US" sz="1100"/>
          </a:p>
        </p:txBody>
      </p:sp>
      <p:sp>
        <p:nvSpPr>
          <p:cNvPr name="AutoShape 11" id="11"/>
          <p:cNvSpPr/>
          <p:nvPr/>
        </p:nvSpPr>
        <p:spPr>
          <a:xfrm rot="0" flipH="false" flipV="false">
            <a:off x="4699000" y="2667000"/>
            <a:ext cx="2794000" cy="1270000"/>
          </a:xfrm>
          <a:prstGeom prst="rect">
            <a:avLst/>
          </a:prstGeom>
          <a:noFill/>
          <a:ln w="12700" cmpd="sng" cap="flat">
            <a:noFill/>
            <a:prstDash val="solid"/>
            <a:round/>
          </a:ln>
        </p:spPr>
        <p:txBody>
          <a:bodyPr anchor="t" rtlCol="false" anchorCtr="false" vert="horz" wrap="square" lIns="0" rIns="0" tIns="0" bIns="0"/>
          <a:lstStyle/>
          <a:p>
            <a:pPr algn="l" indent="0">
              <a:lnSpc>
                <a:spcPct val="116666"/>
              </a:lnSpc>
              <a:defRPr/>
            </a:pPr>
            <a:r>
              <a:rPr lang="en-US" b="false" i="false" strike="noStrike" u="none" sz="1200">
                <a:solidFill>
                  <a:srgbClr val="E0E0E0"/>
                </a:solidFill>
                <a:latin typeface="Poppins"/>
                <a:ea typeface="Poppins"/>
                <a:cs typeface="Poppins"/>
                <a:sym typeface="Poppins"/>
              </a:rPr>
              <a:t>Successfully built a fully functional REST API. Mastered DTO patterns for clean contracts, implemented global exception handling, and automated API documentation effectively.</a:t>
            </a:r>
            <a:endParaRPr lang="en-US" sz="1100"/>
          </a:p>
        </p:txBody>
      </p:sp>
      <p:sp>
        <p:nvSpPr>
          <p:cNvPr name="AutoShape 12" id="12"/>
          <p:cNvSpPr/>
          <p:nvPr/>
        </p:nvSpPr>
        <p:spPr>
          <a:xfrm rot="0" flipH="false" flipV="false">
            <a:off x="8128000" y="1651000"/>
            <a:ext cx="3302000" cy="2921000"/>
          </a:xfrm>
          <a:prstGeom prst="roundRect">
            <a:avLst>
              <a:gd name="adj" fmla="val 5217"/>
            </a:avLst>
          </a:prstGeom>
          <a:solidFill>
            <a:srgbClr val="FFFFFF">
              <a:alpha val="8000"/>
            </a:srgbClr>
          </a:solidFill>
          <a:ln w="12700" cmpd="sng" cap="flat">
            <a:solidFill>
              <a:srgbClr val="FFFFFF">
                <a:alpha val="15000"/>
              </a:srgbClr>
            </a:solidFill>
            <a:prstDash val="solid"/>
            <a:round/>
          </a:ln>
        </p:spPr>
        <p:txBody>
          <a:bodyPr anchor="ctr" rtlCol="false" vert="horz" wrap="square" lIns="63500" rIns="63500" tIns="63500" bIns="63500"/>
          <a:lstStyle/>
          <a:p>
            <a:pPr algn="ctr">
              <a:defRPr/>
            </a:pPr>
            <a:endParaRPr/>
          </a:p>
        </p:txBody>
      </p:sp>
      <p:pic>
        <p:nvPicPr>
          <p:cNvPr name="Picture 13" id="13"/>
          <p:cNvPicPr>
            <a:picLocks noChangeAspect="true"/>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rot="0" flipH="false" flipV="false">
            <a:off x="8382000" y="1905000"/>
            <a:ext cx="508000" cy="508000"/>
          </a:xfrm>
          <a:prstGeom prst="rect">
            <a:avLst/>
          </a:prstGeom>
        </p:spPr>
      </p:pic>
      <p:sp>
        <p:nvSpPr>
          <p:cNvPr name="AutoShape 14" id="14"/>
          <p:cNvSpPr/>
          <p:nvPr/>
        </p:nvSpPr>
        <p:spPr>
          <a:xfrm rot="0" flipH="false" flipV="false">
            <a:off x="9080500" y="1930400"/>
            <a:ext cx="2159000" cy="444500"/>
          </a:xfrm>
          <a:prstGeom prst="rect">
            <a:avLst/>
          </a:prstGeom>
          <a:noFill/>
          <a:ln w="12700" cmpd="sng" cap="flat">
            <a:noFill/>
            <a:prstDash val="solid"/>
            <a:round/>
          </a:ln>
        </p:spPr>
        <p:txBody>
          <a:bodyPr anchor="ctr" rtlCol="false" anchorCtr="false" vert="horz" wrap="square" lIns="0" rIns="0" tIns="0" bIns="0"/>
          <a:lstStyle/>
          <a:p>
            <a:pPr algn="l" indent="0">
              <a:lnSpc>
                <a:spcPct val="125000"/>
              </a:lnSpc>
              <a:defRPr/>
            </a:pPr>
            <a:r>
              <a:rPr lang="en-US" b="true" i="false" strike="noStrike" u="none" sz="1600">
                <a:solidFill>
                  <a:srgbClr val="FFFFFF"/>
                </a:solidFill>
                <a:latin typeface="Poppins"/>
                <a:ea typeface="Poppins"/>
                <a:cs typeface="Poppins"/>
                <a:sym typeface="Poppins"/>
              </a:rPr>
              <a:t>Key Conclusions</a:t>
            </a:r>
            <a:endParaRPr lang="en-US" sz="1100"/>
          </a:p>
        </p:txBody>
      </p:sp>
      <p:sp>
        <p:nvSpPr>
          <p:cNvPr name="AutoShape 15" id="15"/>
          <p:cNvSpPr/>
          <p:nvPr/>
        </p:nvSpPr>
        <p:spPr>
          <a:xfrm rot="0" flipH="false" flipV="false">
            <a:off x="8382000" y="2667000"/>
            <a:ext cx="2794000" cy="1143000"/>
          </a:xfrm>
          <a:prstGeom prst="rect">
            <a:avLst/>
          </a:prstGeom>
          <a:noFill/>
          <a:ln w="12700" cmpd="sng" cap="flat">
            <a:noFill/>
            <a:prstDash val="solid"/>
            <a:round/>
          </a:ln>
        </p:spPr>
        <p:txBody>
          <a:bodyPr anchor="t" rtlCol="false" anchorCtr="false" vert="horz" wrap="square" lIns="0" rIns="0" tIns="0" bIns="0"/>
          <a:lstStyle/>
          <a:p>
            <a:pPr algn="l" indent="0">
              <a:lnSpc>
                <a:spcPct val="116666"/>
              </a:lnSpc>
              <a:defRPr/>
            </a:pPr>
            <a:r>
              <a:rPr lang="en-US" b="false" i="false" strike="noStrike" u="none" sz="1200">
                <a:solidFill>
                  <a:srgbClr val="E0E0E0"/>
                </a:solidFill>
                <a:latin typeface="Poppins"/>
                <a:ea typeface="Poppins"/>
                <a:cs typeface="Poppins"/>
                <a:sym typeface="Poppins"/>
              </a:rPr>
              <a:t>The project fully meets all coursework requirements. It provides a solid foundation for future extensions, such as user auth, complex statistics, or a full frontend.</a:t>
            </a:r>
            <a:endParaRPr lang="en-US" sz="1100"/>
          </a:p>
        </p:txBody>
      </p:sp>
      <p:sp>
        <p:nvSpPr>
          <p:cNvPr name="AutoShape 16" id="16"/>
          <p:cNvSpPr/>
          <p:nvPr/>
        </p:nvSpPr>
        <p:spPr>
          <a:xfrm rot="0" flipH="false" flipV="false">
            <a:off x="0" y="5016500"/>
            <a:ext cx="12192000" cy="762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true" i="false" strike="noStrike" u="none" sz="4800">
                <a:solidFill>
                  <a:srgbClr val="FFFFFF"/>
                </a:solidFill>
                <a:latin typeface="Poppins"/>
                <a:ea typeface="Poppins"/>
                <a:cs typeface="Poppins"/>
                <a:sym typeface="Poppins"/>
              </a:rPr>
              <a:t>THANK YOU</a:t>
            </a:r>
            <a:endParaRPr lang="en-US" sz="1100"/>
          </a:p>
        </p:txBody>
      </p:sp>
      <p:sp>
        <p:nvSpPr>
          <p:cNvPr name="AutoShape 17" id="17"/>
          <p:cNvSpPr/>
          <p:nvPr/>
        </p:nvSpPr>
        <p:spPr>
          <a:xfrm rot="0" flipH="false" flipV="false">
            <a:off x="0" y="5969000"/>
            <a:ext cx="12192000" cy="381000"/>
          </a:xfrm>
          <a:prstGeom prst="rect">
            <a:avLst/>
          </a:prstGeom>
          <a:noFill/>
          <a:ln w="12700" cmpd="sng" cap="flat">
            <a:noFill/>
            <a:prstDash val="solid"/>
            <a:round/>
          </a:ln>
        </p:spPr>
        <p:txBody>
          <a:bodyPr anchor="ctr" rtlCol="false" anchorCtr="false" vert="horz" wrap="square" lIns="0" rIns="0" tIns="0" bIns="0"/>
          <a:lstStyle/>
          <a:p>
            <a:pPr algn="ctr" indent="0">
              <a:lnSpc>
                <a:spcPct val="125000"/>
              </a:lnSpc>
              <a:defRPr/>
            </a:pPr>
            <a:r>
              <a:rPr lang="en-US" b="false" i="false" strike="noStrike" u="none" sz="2000" spc="200">
                <a:solidFill>
                  <a:srgbClr val="06E0C3"/>
                </a:solidFill>
                <a:latin typeface="Poppins"/>
                <a:ea typeface="Poppins"/>
                <a:cs typeface="Poppins"/>
                <a:sym typeface="Poppins"/>
              </a:rPr>
              <a:t>Q&amp;A SESSION / ANY QUESTIONS?</a:t>
            </a:r>
            <a:endParaRPr lang="en-US" sz="1100"/>
          </a:p>
        </p:txBody>
      </p:sp>
      <p:pic>
        <p:nvPicPr>
          <p:cNvPr name="Picture 18" id="18"/>
          <p:cNvPicPr>
            <a:picLocks noChangeAspect="true"/>
          </p:cNvPicPr>
          <p:nvPr/>
        </p:nvPicPr>
        <p:blipFill>
          <a:blip r:embed="rId10"/>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file>